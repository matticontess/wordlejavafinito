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1" r:id="rId3"/>
    <p:sldId id="258" r:id="rId4"/>
    <p:sldId id="265" r:id="rId5"/>
    <p:sldId id="260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DD031-6D14-42B8-B138-94729B86A9A9}" v="13" dt="2026-05-21T10:49:04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0686F-738D-47E3-B1A4-4E9057AC95DF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4D982-2CC0-48B2-8F7C-FCB817941B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221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4D982-2CC0-48B2-8F7C-FCB817941B4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513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6B57-1B2B-1892-F8CC-4B0327692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89FA5-F0C2-6DBF-D537-196638D36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A46C4-C7B9-29A3-954C-1883D971C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A1A5D-2445-253B-B19C-B2EA0678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2A87B-3D2C-394E-E393-103B2B1C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9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FEFC-9C56-945B-A9D1-8FF6ED15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BCE5E-49F8-1B57-F0B3-FD1640A6C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DCEEA-7BD2-C7E0-7388-73B59F5A0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78A6F-6494-3ED3-93D9-7A112D24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AF61C-82AB-9F77-A07A-7AAA106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69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3195-9619-41F8-D97A-571C032E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4E69F-6F71-4410-DD89-BCD5BA2B7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32FEC-428B-852F-571A-45CCD941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096CA-4BD4-DB85-BD93-EA1D4968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95031-28F0-69A5-CF9C-5E509900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01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A5584-2BA5-5FB7-96E4-D1BAA0D85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DD470-4909-EF64-F227-1CAD19F43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C4C59-AA83-980C-E061-95A29643D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F60B5-8741-2D55-D365-2D38621EF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4BA2C-6F35-4E4C-1EA7-4305DF0F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A0F65-87D2-F403-5827-1447521B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7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30F3-79C1-DD5E-6829-2D6763CC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DF458-CEBF-A438-69A8-F1061AF99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1B798-7801-62F2-997F-E2ACC489D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E1BAE7-218C-BD95-E364-EB5719C21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271F3-4159-5F48-726A-860A6F64C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220878-D276-5B63-67BA-99F1281F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9A82F-11E4-AC43-0F5D-28E20CB1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B7B86-D175-1E86-FCD0-3AA23C73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5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1AFE-67DC-5CC3-95D2-75C9FA7A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5AAE5-0B0E-BAE3-4523-2CA15131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E7D2F-FE93-79D8-B40B-8FB0BF11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6DE2F-1240-D603-45A4-EBC536FA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E1399-9496-DCDA-9016-07327B62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044B2-CB3A-4809-2AAD-37AA7FD6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E1807-CD64-BCB6-D054-D2E96F69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4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4A79-3833-7BF9-7FB7-78BFDA10E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C93E3-BE9F-39EE-E09E-76B449047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24A37-1864-FE11-AADC-6E3AAFD16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78A4A-92E3-8188-DE6E-4F82C627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6086E-860E-1C83-86FF-4A72ECAB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97964-9747-CE8E-B58C-DE7C9221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46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1499-101D-9513-0CF0-FC3223FE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783FE-CD99-7409-A50C-3FD42CD22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4FDE4-149C-EFB7-3B71-A61406251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1EC2A-84FB-ED0D-37AB-C847D3A6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6511B-123A-797A-E862-E62495F1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DA923-20C5-0507-3ACB-88CC84DF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20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2086A-2B10-4BA4-C268-16D8A728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35605-1F7B-E924-72B8-B888E6F9F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B9B7B-96EF-9B44-A4F7-FA147297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D65D-CE09-D6A6-87C4-90EA15C4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64B95-5A5B-8002-DD1C-761A7A5C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10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84149-E7C7-6E35-2640-10D9CA64B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3619B4-25AE-6C58-8FB2-BABC33CF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92323-1549-EA71-BF14-F9C67EE5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2B3B5-2D04-DA96-C4A5-D2870111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F2A87-DAC4-995E-422F-E0D159DF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02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F88897-1130-88EF-CDBF-2E7FE060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8515A-7B88-EC43-7B04-3926FBACC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F39DC-9CB0-4281-71B6-7A921BB43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D45D5-353A-476E-9145-E4FE71F5EFB4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06503-8DF6-F22B-0C13-28E09ECDE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E42DD-E2B4-D502-3934-193491EDF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6C335-14BB-49C2-87AA-9559546E11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40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A5507F5-EF30-3E60-FB86-60DA33C9C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BDAD81-CC87-E1E1-3B53-09E65F5E8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8664"/>
            <a:ext cx="9144000" cy="1114121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Wordle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72C24-7A95-794A-5B9D-206BC67CB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6586"/>
            <a:ext cx="9144000" cy="5701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Progetto </a:t>
            </a:r>
            <a:r>
              <a:rPr lang="en-GB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sviluppato</a:t>
            </a:r>
            <a:r>
              <a:rPr lang="en-GB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 Simone </a:t>
            </a:r>
            <a:r>
              <a:rPr lang="en-GB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Ceniccola</a:t>
            </a:r>
            <a:r>
              <a:rPr lang="en-GB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 Mattia Contessa </a:t>
            </a:r>
          </a:p>
        </p:txBody>
      </p:sp>
    </p:spTree>
    <p:extLst>
      <p:ext uri="{BB962C8B-B14F-4D97-AF65-F5344CB8AC3E}">
        <p14:creationId xmlns:p14="http://schemas.microsoft.com/office/powerpoint/2010/main" val="48288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945" y="-31469"/>
            <a:ext cx="12303889" cy="69209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00" y="194437"/>
            <a:ext cx="10515600" cy="1325563"/>
          </a:xfrm>
        </p:spPr>
        <p:txBody>
          <a:bodyPr>
            <a:normAutofit/>
          </a:bodyPr>
          <a:lstStyle/>
          <a:p>
            <a:r>
              <a:rPr lang="it-IT" sz="6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INDICE</a:t>
            </a:r>
          </a:p>
        </p:txBody>
      </p:sp>
      <p:sp>
        <p:nvSpPr>
          <p:cNvPr id="9" name="GreenLine"/>
          <p:cNvSpPr/>
          <p:nvPr/>
        </p:nvSpPr>
        <p:spPr>
          <a:xfrm>
            <a:off x="600000" y="1280000"/>
            <a:ext cx="10950000" cy="350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C9C34E-2501-6A44-A37F-A2B8D63441AE}"/>
              </a:ext>
            </a:extLst>
          </p:cNvPr>
          <p:cNvGrpSpPr/>
          <p:nvPr/>
        </p:nvGrpSpPr>
        <p:grpSpPr>
          <a:xfrm>
            <a:off x="600000" y="1500000"/>
            <a:ext cx="5570000" cy="700000"/>
            <a:chOff x="600000" y="1500000"/>
            <a:chExt cx="5570000" cy="700000"/>
          </a:xfrm>
        </p:grpSpPr>
        <p:sp>
          <p:nvSpPr>
            <p:cNvPr id="10" name="Num10"/>
            <p:cNvSpPr/>
            <p:nvPr/>
          </p:nvSpPr>
          <p:spPr>
            <a:xfrm>
              <a:off x="600000" y="1500000"/>
              <a:ext cx="700000" cy="700000"/>
            </a:xfrm>
            <a:prstGeom prst="rect">
              <a:avLst/>
            </a:prstGeom>
            <a:solidFill>
              <a:srgbClr val="2D3240"/>
            </a:solidFill>
            <a:ln/>
          </p:spPr>
          <p:txBody>
            <a:bodyPr anchor="ctr"/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Space Grotesk Bold" pitchFamily="34" charset="0"/>
                </a:rPr>
                <a:t>01</a:t>
              </a:r>
            </a:p>
          </p:txBody>
        </p:sp>
        <p:sp>
          <p:nvSpPr>
            <p:cNvPr id="11" name="Txt11"/>
            <p:cNvSpPr/>
            <p:nvPr/>
          </p:nvSpPr>
          <p:spPr>
            <a:xfrm>
              <a:off x="1420000" y="1580000"/>
              <a:ext cx="475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it-IT" sz="2200" dirty="0">
                  <a:solidFill>
                    <a:srgbClr val="F8FAFC"/>
                  </a:solidFill>
                  <a:latin typeface="Space Grotesk" pitchFamily="34" charset="0"/>
                </a:rPr>
                <a:t>Introduzione</a:t>
              </a:r>
            </a:p>
          </p:txBody>
        </p:sp>
      </p:grpSp>
      <p:sp>
        <p:nvSpPr>
          <p:cNvPr id="12" name="Sep12"/>
          <p:cNvSpPr/>
          <p:nvPr/>
        </p:nvSpPr>
        <p:spPr>
          <a:xfrm>
            <a:off x="600000" y="2260000"/>
            <a:ext cx="5570000" cy="30000"/>
          </a:xfrm>
          <a:prstGeom prst="rect">
            <a:avLst/>
          </a:prstGeom>
          <a:solidFill>
            <a:srgbClr val="3A3F52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6012C2-3C1B-ACDE-C6A6-9715357E7D65}"/>
              </a:ext>
            </a:extLst>
          </p:cNvPr>
          <p:cNvGrpSpPr/>
          <p:nvPr/>
        </p:nvGrpSpPr>
        <p:grpSpPr>
          <a:xfrm>
            <a:off x="600000" y="2600000"/>
            <a:ext cx="5570000" cy="700000"/>
            <a:chOff x="600000" y="2600000"/>
            <a:chExt cx="5570000" cy="700000"/>
          </a:xfrm>
        </p:grpSpPr>
        <p:sp>
          <p:nvSpPr>
            <p:cNvPr id="13" name="Num13"/>
            <p:cNvSpPr/>
            <p:nvPr/>
          </p:nvSpPr>
          <p:spPr>
            <a:xfrm>
              <a:off x="600000" y="2600000"/>
              <a:ext cx="700000" cy="700000"/>
            </a:xfrm>
            <a:prstGeom prst="rect">
              <a:avLst/>
            </a:prstGeom>
            <a:solidFill>
              <a:srgbClr val="2D3240"/>
            </a:solidFill>
            <a:ln/>
          </p:spPr>
          <p:txBody>
            <a:bodyPr anchor="ctr"/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Space Grotesk Bold" pitchFamily="34" charset="0"/>
                </a:rPr>
                <a:t>02</a:t>
              </a:r>
            </a:p>
          </p:txBody>
        </p:sp>
        <p:sp>
          <p:nvSpPr>
            <p:cNvPr id="14" name="Txt14"/>
            <p:cNvSpPr/>
            <p:nvPr/>
          </p:nvSpPr>
          <p:spPr>
            <a:xfrm>
              <a:off x="1420000" y="2680000"/>
              <a:ext cx="475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it-IT" sz="2200" dirty="0">
                  <a:solidFill>
                    <a:srgbClr val="F8FAFC"/>
                  </a:solidFill>
                  <a:latin typeface="Space Grotesk" pitchFamily="34" charset="0"/>
                </a:rPr>
                <a:t>Regole del gioco</a:t>
              </a:r>
            </a:p>
          </p:txBody>
        </p:sp>
      </p:grpSp>
      <p:sp>
        <p:nvSpPr>
          <p:cNvPr id="15" name="Sep15"/>
          <p:cNvSpPr/>
          <p:nvPr/>
        </p:nvSpPr>
        <p:spPr>
          <a:xfrm>
            <a:off x="600000" y="3360000"/>
            <a:ext cx="5570000" cy="30000"/>
          </a:xfrm>
          <a:prstGeom prst="rect">
            <a:avLst/>
          </a:prstGeom>
          <a:solidFill>
            <a:srgbClr val="3A3F52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CEACB5-883D-29DD-418B-3F4BA589F274}"/>
              </a:ext>
            </a:extLst>
          </p:cNvPr>
          <p:cNvGrpSpPr/>
          <p:nvPr/>
        </p:nvGrpSpPr>
        <p:grpSpPr>
          <a:xfrm>
            <a:off x="600000" y="3700000"/>
            <a:ext cx="5570000" cy="700000"/>
            <a:chOff x="600000" y="3700000"/>
            <a:chExt cx="5570000" cy="700000"/>
          </a:xfrm>
        </p:grpSpPr>
        <p:sp>
          <p:nvSpPr>
            <p:cNvPr id="16" name="Num16"/>
            <p:cNvSpPr/>
            <p:nvPr/>
          </p:nvSpPr>
          <p:spPr>
            <a:xfrm>
              <a:off x="600000" y="3700000"/>
              <a:ext cx="700000" cy="700000"/>
            </a:xfrm>
            <a:prstGeom prst="rect">
              <a:avLst/>
            </a:prstGeom>
            <a:solidFill>
              <a:srgbClr val="2D3240"/>
            </a:solidFill>
            <a:ln/>
          </p:spPr>
          <p:txBody>
            <a:bodyPr anchor="ctr"/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Space Grotesk Bold" pitchFamily="34" charset="0"/>
                </a:rPr>
                <a:t>03</a:t>
              </a:r>
            </a:p>
          </p:txBody>
        </p:sp>
        <p:sp>
          <p:nvSpPr>
            <p:cNvPr id="17" name="Txt17"/>
            <p:cNvSpPr/>
            <p:nvPr/>
          </p:nvSpPr>
          <p:spPr>
            <a:xfrm>
              <a:off x="1420000" y="3780000"/>
              <a:ext cx="475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it-IT" sz="2200" dirty="0">
                  <a:solidFill>
                    <a:srgbClr val="F8FAFC"/>
                  </a:solidFill>
                  <a:latin typeface="Space Grotesk" pitchFamily="34" charset="0"/>
                </a:rPr>
                <a:t>Struttura del progetto</a:t>
              </a:r>
            </a:p>
          </p:txBody>
        </p:sp>
      </p:grpSp>
      <p:sp>
        <p:nvSpPr>
          <p:cNvPr id="18" name="Sep18"/>
          <p:cNvSpPr/>
          <p:nvPr/>
        </p:nvSpPr>
        <p:spPr>
          <a:xfrm>
            <a:off x="600000" y="4460000"/>
            <a:ext cx="5570000" cy="30000"/>
          </a:xfrm>
          <a:prstGeom prst="rect">
            <a:avLst/>
          </a:prstGeom>
          <a:solidFill>
            <a:srgbClr val="3A3F52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D48B24-3373-8584-D089-DCE516C82159}"/>
              </a:ext>
            </a:extLst>
          </p:cNvPr>
          <p:cNvGrpSpPr/>
          <p:nvPr/>
        </p:nvGrpSpPr>
        <p:grpSpPr>
          <a:xfrm>
            <a:off x="600000" y="4800000"/>
            <a:ext cx="5570000" cy="700000"/>
            <a:chOff x="600000" y="4800000"/>
            <a:chExt cx="5570000" cy="700000"/>
          </a:xfrm>
        </p:grpSpPr>
        <p:sp>
          <p:nvSpPr>
            <p:cNvPr id="19" name="Num19"/>
            <p:cNvSpPr/>
            <p:nvPr/>
          </p:nvSpPr>
          <p:spPr>
            <a:xfrm>
              <a:off x="600000" y="4800000"/>
              <a:ext cx="700000" cy="700000"/>
            </a:xfrm>
            <a:prstGeom prst="rect">
              <a:avLst/>
            </a:prstGeom>
            <a:solidFill>
              <a:srgbClr val="2D3240"/>
            </a:solidFill>
            <a:ln/>
          </p:spPr>
          <p:txBody>
            <a:bodyPr anchor="ctr"/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Space Grotesk Bold" pitchFamily="34" charset="0"/>
                </a:rPr>
                <a:t>04</a:t>
              </a:r>
            </a:p>
          </p:txBody>
        </p:sp>
        <p:sp>
          <p:nvSpPr>
            <p:cNvPr id="20" name="Txt20"/>
            <p:cNvSpPr/>
            <p:nvPr/>
          </p:nvSpPr>
          <p:spPr>
            <a:xfrm>
              <a:off x="1420000" y="4880000"/>
              <a:ext cx="475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it-IT" sz="2200" dirty="0">
                  <a:solidFill>
                    <a:srgbClr val="F8FAFC"/>
                  </a:solidFill>
                  <a:latin typeface="Space Grotesk" pitchFamily="34" charset="0"/>
                </a:rPr>
                <a:t>Interfaccia grafica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ACDE5E-485F-4037-665B-E832060B66B7}"/>
              </a:ext>
            </a:extLst>
          </p:cNvPr>
          <p:cNvGrpSpPr/>
          <p:nvPr/>
        </p:nvGrpSpPr>
        <p:grpSpPr>
          <a:xfrm>
            <a:off x="6500000" y="1500000"/>
            <a:ext cx="5570000" cy="700000"/>
            <a:chOff x="6500000" y="1500000"/>
            <a:chExt cx="5570000" cy="700000"/>
          </a:xfrm>
        </p:grpSpPr>
        <p:sp>
          <p:nvSpPr>
            <p:cNvPr id="21" name="Num21"/>
            <p:cNvSpPr/>
            <p:nvPr/>
          </p:nvSpPr>
          <p:spPr>
            <a:xfrm>
              <a:off x="6500000" y="1500000"/>
              <a:ext cx="700000" cy="700000"/>
            </a:xfrm>
            <a:prstGeom prst="rect">
              <a:avLst/>
            </a:prstGeom>
            <a:solidFill>
              <a:srgbClr val="2D3240"/>
            </a:solidFill>
            <a:ln/>
          </p:spPr>
          <p:txBody>
            <a:bodyPr anchor="ctr"/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Space Grotesk Bold" pitchFamily="34" charset="0"/>
                </a:rPr>
                <a:t>05</a:t>
              </a:r>
            </a:p>
          </p:txBody>
        </p:sp>
        <p:sp>
          <p:nvSpPr>
            <p:cNvPr id="22" name="Txt22"/>
            <p:cNvSpPr/>
            <p:nvPr/>
          </p:nvSpPr>
          <p:spPr>
            <a:xfrm>
              <a:off x="7320000" y="1580000"/>
              <a:ext cx="475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it-IT" sz="2200" dirty="0">
                  <a:solidFill>
                    <a:srgbClr val="F8FAFC"/>
                  </a:solidFill>
                  <a:latin typeface="Space Grotesk" pitchFamily="34" charset="0"/>
                </a:rPr>
                <a:t>Logica di gioco</a:t>
              </a:r>
            </a:p>
          </p:txBody>
        </p:sp>
      </p:grpSp>
      <p:sp>
        <p:nvSpPr>
          <p:cNvPr id="23" name="Sep23"/>
          <p:cNvSpPr/>
          <p:nvPr/>
        </p:nvSpPr>
        <p:spPr>
          <a:xfrm>
            <a:off x="6500000" y="2260000"/>
            <a:ext cx="5570000" cy="30000"/>
          </a:xfrm>
          <a:prstGeom prst="rect">
            <a:avLst/>
          </a:prstGeom>
          <a:solidFill>
            <a:srgbClr val="3A3F52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74E779-5C12-93BD-AD19-46CC2AF678EF}"/>
              </a:ext>
            </a:extLst>
          </p:cNvPr>
          <p:cNvGrpSpPr/>
          <p:nvPr/>
        </p:nvGrpSpPr>
        <p:grpSpPr>
          <a:xfrm>
            <a:off x="6500000" y="2600000"/>
            <a:ext cx="5570000" cy="700000"/>
            <a:chOff x="6500000" y="2600000"/>
            <a:chExt cx="5570000" cy="700000"/>
          </a:xfrm>
        </p:grpSpPr>
        <p:sp>
          <p:nvSpPr>
            <p:cNvPr id="24" name="Num24"/>
            <p:cNvSpPr/>
            <p:nvPr/>
          </p:nvSpPr>
          <p:spPr>
            <a:xfrm>
              <a:off x="6500000" y="2600000"/>
              <a:ext cx="700000" cy="700000"/>
            </a:xfrm>
            <a:prstGeom prst="rect">
              <a:avLst/>
            </a:prstGeom>
            <a:solidFill>
              <a:srgbClr val="2D3240"/>
            </a:solidFill>
            <a:ln/>
          </p:spPr>
          <p:txBody>
            <a:bodyPr anchor="ctr"/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Space Grotesk Bold" pitchFamily="34" charset="0"/>
                </a:rPr>
                <a:t>06</a:t>
              </a:r>
            </a:p>
          </p:txBody>
        </p:sp>
        <p:sp>
          <p:nvSpPr>
            <p:cNvPr id="25" name="Txt25"/>
            <p:cNvSpPr/>
            <p:nvPr/>
          </p:nvSpPr>
          <p:spPr>
            <a:xfrm>
              <a:off x="7320000" y="2680000"/>
              <a:ext cx="475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it-IT" sz="2200" dirty="0">
                  <a:solidFill>
                    <a:srgbClr val="F8FAFC"/>
                  </a:solidFill>
                  <a:latin typeface="Space Grotesk" pitchFamily="34" charset="0"/>
                </a:rPr>
                <a:t>Gestione degli eventi</a:t>
              </a:r>
            </a:p>
          </p:txBody>
        </p:sp>
      </p:grpSp>
      <p:sp>
        <p:nvSpPr>
          <p:cNvPr id="26" name="Sep26"/>
          <p:cNvSpPr/>
          <p:nvPr/>
        </p:nvSpPr>
        <p:spPr>
          <a:xfrm>
            <a:off x="6500000" y="3360000"/>
            <a:ext cx="5570000" cy="30000"/>
          </a:xfrm>
          <a:prstGeom prst="rect">
            <a:avLst/>
          </a:prstGeom>
          <a:solidFill>
            <a:srgbClr val="3A3F52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02A4308-519F-75A7-6649-62DE44B76D52}"/>
              </a:ext>
            </a:extLst>
          </p:cNvPr>
          <p:cNvGrpSpPr/>
          <p:nvPr/>
        </p:nvGrpSpPr>
        <p:grpSpPr>
          <a:xfrm>
            <a:off x="6500000" y="3700000"/>
            <a:ext cx="5570000" cy="700000"/>
            <a:chOff x="6500000" y="3700000"/>
            <a:chExt cx="5570000" cy="700000"/>
          </a:xfrm>
        </p:grpSpPr>
        <p:sp>
          <p:nvSpPr>
            <p:cNvPr id="27" name="Num27"/>
            <p:cNvSpPr/>
            <p:nvPr/>
          </p:nvSpPr>
          <p:spPr>
            <a:xfrm>
              <a:off x="6500000" y="3700000"/>
              <a:ext cx="700000" cy="700000"/>
            </a:xfrm>
            <a:prstGeom prst="rect">
              <a:avLst/>
            </a:prstGeom>
            <a:solidFill>
              <a:srgbClr val="2D3240"/>
            </a:solidFill>
            <a:ln/>
          </p:spPr>
          <p:txBody>
            <a:bodyPr anchor="ctr"/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Space Grotesk Bold" pitchFamily="34" charset="0"/>
                </a:rPr>
                <a:t>07</a:t>
              </a:r>
            </a:p>
          </p:txBody>
        </p:sp>
        <p:sp>
          <p:nvSpPr>
            <p:cNvPr id="28" name="Txt28"/>
            <p:cNvSpPr/>
            <p:nvPr/>
          </p:nvSpPr>
          <p:spPr>
            <a:xfrm>
              <a:off x="7320000" y="3780000"/>
              <a:ext cx="475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it-IT" sz="2200" dirty="0">
                  <a:solidFill>
                    <a:srgbClr val="F8FAFC"/>
                  </a:solidFill>
                  <a:latin typeface="Space Grotesk" pitchFamily="34" charset="0"/>
                </a:rPr>
                <a:t>Statistiche</a:t>
              </a:r>
            </a:p>
          </p:txBody>
        </p:sp>
      </p:grpSp>
      <p:sp>
        <p:nvSpPr>
          <p:cNvPr id="29" name="Sep29"/>
          <p:cNvSpPr/>
          <p:nvPr/>
        </p:nvSpPr>
        <p:spPr>
          <a:xfrm>
            <a:off x="6500000" y="4460000"/>
            <a:ext cx="5570000" cy="30000"/>
          </a:xfrm>
          <a:prstGeom prst="rect">
            <a:avLst/>
          </a:prstGeom>
          <a:solidFill>
            <a:srgbClr val="3A3F52"/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8877BF0-D133-BD96-B1A9-008E9E55D56D}"/>
              </a:ext>
            </a:extLst>
          </p:cNvPr>
          <p:cNvGrpSpPr/>
          <p:nvPr/>
        </p:nvGrpSpPr>
        <p:grpSpPr>
          <a:xfrm>
            <a:off x="6500000" y="4800000"/>
            <a:ext cx="5570000" cy="700000"/>
            <a:chOff x="6500000" y="4800000"/>
            <a:chExt cx="5570000" cy="700000"/>
          </a:xfrm>
        </p:grpSpPr>
        <p:sp>
          <p:nvSpPr>
            <p:cNvPr id="30" name="Num30"/>
            <p:cNvSpPr/>
            <p:nvPr/>
          </p:nvSpPr>
          <p:spPr>
            <a:xfrm>
              <a:off x="6500000" y="4800000"/>
              <a:ext cx="700000" cy="700000"/>
            </a:xfrm>
            <a:prstGeom prst="rect">
              <a:avLst/>
            </a:prstGeom>
            <a:solidFill>
              <a:srgbClr val="2D3240"/>
            </a:solidFill>
            <a:ln/>
          </p:spPr>
          <p:txBody>
            <a:bodyPr anchor="ctr"/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Space Grotesk Bold" pitchFamily="34" charset="0"/>
                </a:rPr>
                <a:t>08</a:t>
              </a:r>
            </a:p>
          </p:txBody>
        </p:sp>
        <p:sp>
          <p:nvSpPr>
            <p:cNvPr id="31" name="Txt31"/>
            <p:cNvSpPr/>
            <p:nvPr/>
          </p:nvSpPr>
          <p:spPr>
            <a:xfrm>
              <a:off x="7320000" y="4880000"/>
              <a:ext cx="475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it-IT" sz="2200" dirty="0">
                  <a:solidFill>
                    <a:srgbClr val="F8FAFC"/>
                  </a:solidFill>
                  <a:latin typeface="Space Grotesk" pitchFamily="34" charset="0"/>
                </a:rPr>
                <a:t>Miglioramenti futuri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803E651-554F-2227-5125-BD834CB1B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945" y="-31469"/>
            <a:ext cx="12303889" cy="6920938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A6BC71B-E3C9-E0F8-32F2-12169420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INTRODUZIONE</a:t>
            </a:r>
            <a:endParaRPr lang="it-IT" sz="66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108893-2771-0422-BA7C-B6173AD67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121149"/>
          </a:xfrm>
        </p:spPr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Questo progetto consiste nella realizzazione di un gioco in cui bisogna indovinare una parola nascosta. </a:t>
            </a:r>
          </a:p>
          <a:p>
            <a:pPr marL="0" indent="0">
              <a:buNone/>
            </a:pPr>
            <a:endParaRPr lang="it-IT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it-IT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L’utente ha al massimo sei tentativi prima di fallire.</a:t>
            </a:r>
          </a:p>
          <a:p>
            <a:pPr marL="0" indent="0">
              <a:buNone/>
            </a:pPr>
            <a:endParaRPr lang="it-IT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569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2AC2-A926-395A-2812-B86DB86E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</a:rPr>
              <a:t>Regole del gioco</a:t>
            </a:r>
            <a:endParaRPr lang="en-GB">
              <a:solidFill>
                <a:schemeClr val="bg1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F2006E1-694C-BA4B-5F26-ADCF5FE8F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18CF971C-FE14-1D15-45B3-6CD4F18168E8}"/>
              </a:ext>
            </a:extLst>
          </p:cNvPr>
          <p:cNvSpPr/>
          <p:nvPr/>
        </p:nvSpPr>
        <p:spPr>
          <a:xfrm>
            <a:off x="741254" y="1940230"/>
            <a:ext cx="248602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B45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8040EC6-58C8-2BA3-E08B-13F5B7C26F3C}"/>
              </a:ext>
            </a:extLst>
          </p:cNvPr>
          <p:cNvSpPr/>
          <p:nvPr/>
        </p:nvSpPr>
        <p:spPr>
          <a:xfrm>
            <a:off x="3471535" y="1878203"/>
            <a:ext cx="248602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B458"/>
                </a:solidFill>
                <a:latin typeface="Space Grotesk Bold" pitchFamily="34" charset="0"/>
                <a:ea typeface="Space Grotesk Bold" pitchFamily="34" charset="-122"/>
              </a:rPr>
              <a:t>02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5105FC-3C41-ACC4-D6F7-C2A2F448CB75}"/>
              </a:ext>
            </a:extLst>
          </p:cNvPr>
          <p:cNvSpPr/>
          <p:nvPr/>
        </p:nvSpPr>
        <p:spPr>
          <a:xfrm>
            <a:off x="6342150" y="1877600"/>
            <a:ext cx="248602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B458"/>
                </a:solidFill>
                <a:latin typeface="Space Grotesk Bold" pitchFamily="34" charset="0"/>
                <a:ea typeface="Space Grotesk Bold" pitchFamily="34" charset="-122"/>
              </a:rPr>
              <a:t>03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060DE1B-CE90-9812-8413-6B41E65501CE}"/>
              </a:ext>
            </a:extLst>
          </p:cNvPr>
          <p:cNvSpPr/>
          <p:nvPr/>
        </p:nvSpPr>
        <p:spPr>
          <a:xfrm>
            <a:off x="9022556" y="1877600"/>
            <a:ext cx="248602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B458"/>
                </a:solidFill>
                <a:latin typeface="Space Grotesk Bold" pitchFamily="34" charset="0"/>
                <a:ea typeface="Space Grotesk Bold" pitchFamily="34" charset="-122"/>
              </a:rPr>
              <a:t>04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22053C-3843-4CCB-C779-A7F03FA575F2}"/>
              </a:ext>
            </a:extLst>
          </p:cNvPr>
          <p:cNvSpPr txBox="1"/>
          <p:nvPr/>
        </p:nvSpPr>
        <p:spPr>
          <a:xfrm>
            <a:off x="586906" y="404313"/>
            <a:ext cx="1171203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6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REGOLE</a:t>
            </a:r>
            <a:r>
              <a:rPr lang="it-IT" sz="4000" b="1" dirty="0">
                <a:solidFill>
                  <a:schemeClr val="bg1"/>
                </a:solidFill>
                <a:latin typeface="Montserrat Black" panose="00000A00000000000000" pitchFamily="2" charset="0"/>
                <a:ea typeface="+mj-ea"/>
                <a:cs typeface="+mj-cs"/>
              </a:rPr>
              <a:t> </a:t>
            </a:r>
            <a:r>
              <a:rPr lang="it-IT" sz="6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DEL</a:t>
            </a:r>
            <a:r>
              <a:rPr lang="it-IT" sz="4000" b="1" dirty="0">
                <a:solidFill>
                  <a:schemeClr val="bg1"/>
                </a:solidFill>
                <a:latin typeface="Montserrat Black" panose="00000A00000000000000" pitchFamily="2" charset="0"/>
                <a:ea typeface="+mj-ea"/>
                <a:cs typeface="+mj-cs"/>
              </a:rPr>
              <a:t> </a:t>
            </a:r>
            <a:r>
              <a:rPr lang="it-IT" sz="6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GIOCO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A71AA26-096E-5CCD-5E1D-15A38ECB179F}"/>
              </a:ext>
            </a:extLst>
          </p:cNvPr>
          <p:cNvSpPr/>
          <p:nvPr/>
        </p:nvSpPr>
        <p:spPr>
          <a:xfrm>
            <a:off x="741254" y="2398929"/>
            <a:ext cx="248602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Parola </a:t>
            </a:r>
            <a:r>
              <a:rPr lang="en-US" sz="2800" b="1" dirty="0" err="1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segreta</a:t>
            </a:r>
            <a:endParaRPr lang="en-US" sz="28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2D887F5-3B12-046C-D736-C660674FCE0E}"/>
              </a:ext>
            </a:extLst>
          </p:cNvPr>
          <p:cNvSpPr/>
          <p:nvPr/>
        </p:nvSpPr>
        <p:spPr>
          <a:xfrm>
            <a:off x="741254" y="3230021"/>
            <a:ext cx="2486025" cy="1292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200"/>
              </a:lnSpc>
            </a:pP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Il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programma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seleziona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la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parola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da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indovinare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all’inizio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della partita.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FF3EE0F-2C95-3747-66D5-E9AA8B6EE0EA}"/>
              </a:ext>
            </a:extLst>
          </p:cNvPr>
          <p:cNvSpPr/>
          <p:nvPr/>
        </p:nvSpPr>
        <p:spPr>
          <a:xfrm>
            <a:off x="6234442" y="2398929"/>
            <a:ext cx="248602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F8FAFC"/>
                </a:solidFill>
                <a:latin typeface="Space Grotesk Bold"/>
              </a:rPr>
              <a:t>Confronto</a:t>
            </a:r>
            <a:endParaRPr lang="en-US" sz="2800" b="1" dirty="0">
              <a:solidFill>
                <a:srgbClr val="F8FAFC"/>
              </a:solidFill>
              <a:latin typeface="Space Grotesk Bold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16328FF-4330-C8EE-2F50-C2741765A7DD}"/>
              </a:ext>
            </a:extLst>
          </p:cNvPr>
          <p:cNvSpPr/>
          <p:nvPr/>
        </p:nvSpPr>
        <p:spPr>
          <a:xfrm>
            <a:off x="3471535" y="2398929"/>
            <a:ext cx="248602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Tentativo</a:t>
            </a:r>
            <a:endParaRPr lang="en-US" sz="28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73ED3382-5F33-A579-FF7A-1EE55B461745}"/>
              </a:ext>
            </a:extLst>
          </p:cNvPr>
          <p:cNvSpPr/>
          <p:nvPr/>
        </p:nvSpPr>
        <p:spPr>
          <a:xfrm>
            <a:off x="8997349" y="2398929"/>
            <a:ext cx="248602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err="1">
                <a:solidFill>
                  <a:srgbClr val="F8FAFC"/>
                </a:solidFill>
                <a:latin typeface="Space Grotesk Bold"/>
              </a:rPr>
              <a:t>Esito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CA3EC7A-B16B-85D2-7196-479AA86B2D4E}"/>
              </a:ext>
            </a:extLst>
          </p:cNvPr>
          <p:cNvSpPr/>
          <p:nvPr/>
        </p:nvSpPr>
        <p:spPr>
          <a:xfrm>
            <a:off x="3471535" y="3212345"/>
            <a:ext cx="2486025" cy="1622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200"/>
              </a:lnSpc>
            </a:pP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L’utente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inserisce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una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parola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della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stessa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lunghezza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usando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tastiera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fisica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o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virtuale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335F763A-5710-A52E-81F5-89068F73B5D3}"/>
              </a:ext>
            </a:extLst>
          </p:cNvPr>
          <p:cNvSpPr/>
          <p:nvPr/>
        </p:nvSpPr>
        <p:spPr>
          <a:xfrm>
            <a:off x="6299027" y="3198169"/>
            <a:ext cx="2486025" cy="963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200"/>
              </a:lnSpc>
            </a:pP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Ogni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lettera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viene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valutata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e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associata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a uno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stato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cromatico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CAE873F-8AD2-A49C-433F-6FFEC9956D38}"/>
              </a:ext>
            </a:extLst>
          </p:cNvPr>
          <p:cNvSpPr/>
          <p:nvPr/>
        </p:nvSpPr>
        <p:spPr>
          <a:xfrm>
            <a:off x="9029308" y="3230021"/>
            <a:ext cx="2486025" cy="1292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7200"/>
              </a:lnSpc>
            </a:pP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La partita termina con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vittoria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o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sconfitta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dopo al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massimo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sei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tentativi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AD44C1-9885-9175-0E72-83DBA3FAB50F}"/>
              </a:ext>
            </a:extLst>
          </p:cNvPr>
          <p:cNvSpPr/>
          <p:nvPr/>
        </p:nvSpPr>
        <p:spPr>
          <a:xfrm>
            <a:off x="741254" y="5477490"/>
            <a:ext cx="720000" cy="72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</a:t>
            </a:r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D0FA20-50A1-EB65-0FA4-C78AA8778476}"/>
              </a:ext>
            </a:extLst>
          </p:cNvPr>
          <p:cNvSpPr/>
          <p:nvPr/>
        </p:nvSpPr>
        <p:spPr>
          <a:xfrm>
            <a:off x="1617844" y="5477490"/>
            <a:ext cx="720000" cy="720000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9EF7AC-FEE4-848B-FF30-234E2C1AB249}"/>
              </a:ext>
            </a:extLst>
          </p:cNvPr>
          <p:cNvSpPr/>
          <p:nvPr/>
        </p:nvSpPr>
        <p:spPr>
          <a:xfrm>
            <a:off x="2494435" y="5477490"/>
            <a:ext cx="720000" cy="720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</a:t>
            </a:r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6C6652-40D0-8EB7-8CE1-C388EDBD1311}"/>
              </a:ext>
            </a:extLst>
          </p:cNvPr>
          <p:cNvSpPr/>
          <p:nvPr/>
        </p:nvSpPr>
        <p:spPr>
          <a:xfrm>
            <a:off x="3371026" y="5477490"/>
            <a:ext cx="720000" cy="72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614A53-627B-F3D6-A966-2E7848C99766}"/>
              </a:ext>
            </a:extLst>
          </p:cNvPr>
          <p:cNvSpPr/>
          <p:nvPr/>
        </p:nvSpPr>
        <p:spPr>
          <a:xfrm>
            <a:off x="4247617" y="5477490"/>
            <a:ext cx="720000" cy="720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</a:t>
            </a:r>
            <a:endParaRPr lang="en-GB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A2FDFB6D-4CAA-4012-9FA3-A95CC74CA3BE}"/>
              </a:ext>
            </a:extLst>
          </p:cNvPr>
          <p:cNvSpPr/>
          <p:nvPr/>
        </p:nvSpPr>
        <p:spPr>
          <a:xfrm>
            <a:off x="5768373" y="5596843"/>
            <a:ext cx="4471988" cy="495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600" b="1" dirty="0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Il feedback </a:t>
            </a:r>
            <a:r>
              <a:rPr lang="en-US" sz="1600" b="1" dirty="0" err="1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immediato</a:t>
            </a:r>
            <a:r>
              <a:rPr lang="en-US" sz="1600" b="1" dirty="0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 </a:t>
            </a:r>
            <a:r>
              <a:rPr lang="en-US" sz="1600" b="1" dirty="0" err="1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permette</a:t>
            </a:r>
            <a:r>
              <a:rPr lang="en-US" sz="1600" b="1" dirty="0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 di </a:t>
            </a:r>
            <a:r>
              <a:rPr lang="en-US" sz="1600" b="1" dirty="0" err="1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avere</a:t>
            </a:r>
            <a:r>
              <a:rPr lang="en-US" sz="1600" b="1" dirty="0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 un </a:t>
            </a:r>
            <a:r>
              <a:rPr lang="en-US" sz="1600" b="1" dirty="0" err="1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indizio</a:t>
            </a:r>
            <a:r>
              <a:rPr lang="en-US" sz="1600" b="1" dirty="0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 per la </a:t>
            </a:r>
            <a:r>
              <a:rPr lang="en-US" sz="1600" b="1" dirty="0" err="1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parola</a:t>
            </a:r>
            <a:r>
              <a:rPr lang="en-US" sz="1600" b="1" dirty="0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 </a:t>
            </a:r>
            <a:r>
              <a:rPr lang="en-US" sz="1600" b="1" dirty="0" err="1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successiva</a:t>
            </a:r>
            <a:r>
              <a:rPr lang="en-US" sz="1600" b="1" dirty="0">
                <a:solidFill>
                  <a:srgbClr val="6AAA64"/>
                </a:solidFill>
                <a:latin typeface="Segoe UI Variable Display" pitchFamily="2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600" dirty="0">
              <a:latin typeface="Segoe UI Variable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40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0" descr="preencoded.png">
            <a:extLst>
              <a:ext uri="{FF2B5EF4-FFF2-40B4-BE49-F238E27FC236}">
                <a16:creationId xmlns:a16="http://schemas.microsoft.com/office/drawing/2014/main" id="{44DEAE5A-7651-EDC6-3416-29A0F0E68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729" y="-93784"/>
            <a:ext cx="12388743" cy="6968668"/>
          </a:xfrm>
          <a:prstGeom prst="rect">
            <a:avLst/>
          </a:prstGeom>
        </p:spPr>
      </p:pic>
      <p:sp>
        <p:nvSpPr>
          <p:cNvPr id="63" name="Title 62">
            <a:extLst>
              <a:ext uri="{FF2B5EF4-FFF2-40B4-BE49-F238E27FC236}">
                <a16:creationId xmlns:a16="http://schemas.microsoft.com/office/drawing/2014/main" id="{860AE5B9-66F7-4509-50CA-591B1DAB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42" y="357259"/>
            <a:ext cx="10515600" cy="1325563"/>
          </a:xfrm>
        </p:spPr>
        <p:txBody>
          <a:bodyPr>
            <a:no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STRUTTURA</a:t>
            </a:r>
            <a:r>
              <a:rPr lang="it-IT" sz="3200" b="1" dirty="0">
                <a:solidFill>
                  <a:schemeClr val="bg1"/>
                </a:solidFill>
                <a:latin typeface="Montserrat Black" panose="00000A00000000000000" pitchFamily="2" charset="0"/>
              </a:rPr>
              <a:t> </a:t>
            </a:r>
            <a:r>
              <a:rPr lang="it-IT" sz="4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DEL</a:t>
            </a:r>
            <a:r>
              <a:rPr lang="it-IT" sz="3200" b="1" dirty="0">
                <a:solidFill>
                  <a:schemeClr val="bg1"/>
                </a:solidFill>
                <a:latin typeface="Montserrat Black" panose="00000A00000000000000" pitchFamily="2" charset="0"/>
              </a:rPr>
              <a:t> </a:t>
            </a:r>
            <a:r>
              <a:rPr lang="it-IT" sz="4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PACKAGE</a:t>
            </a:r>
            <a:endParaRPr lang="en-GB" sz="54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7" name="Shape 2">
            <a:extLst>
              <a:ext uri="{FF2B5EF4-FFF2-40B4-BE49-F238E27FC236}">
                <a16:creationId xmlns:a16="http://schemas.microsoft.com/office/drawing/2014/main" id="{9FDE9F5D-1E6D-FC1D-F8D6-BF3A3633EDC6}"/>
              </a:ext>
            </a:extLst>
          </p:cNvPr>
          <p:cNvSpPr/>
          <p:nvPr/>
        </p:nvSpPr>
        <p:spPr>
          <a:xfrm>
            <a:off x="827724" y="1874151"/>
            <a:ext cx="3611880" cy="4077295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8DA11DF0-3113-D4D1-B00A-039B3DA13FCA}"/>
              </a:ext>
            </a:extLst>
          </p:cNvPr>
          <p:cNvSpPr/>
          <p:nvPr/>
        </p:nvSpPr>
        <p:spPr>
          <a:xfrm>
            <a:off x="1004637" y="2687914"/>
            <a:ext cx="1104470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guesstheword/</a:t>
            </a:r>
            <a:endParaRPr lang="en-US" sz="110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E305A068-8BED-28DD-89D0-4B9A29AA2240}"/>
              </a:ext>
            </a:extLst>
          </p:cNvPr>
          <p:cNvSpPr/>
          <p:nvPr/>
        </p:nvSpPr>
        <p:spPr>
          <a:xfrm>
            <a:off x="1004637" y="2847923"/>
            <a:ext cx="1784143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GuessTheWord.java</a:t>
            </a:r>
            <a:endParaRPr lang="en-US" sz="1100" dirty="0"/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CEF9F1B7-050A-CE07-FBAE-175388F39AFD}"/>
              </a:ext>
            </a:extLst>
          </p:cNvPr>
          <p:cNvSpPr/>
          <p:nvPr/>
        </p:nvSpPr>
        <p:spPr>
          <a:xfrm>
            <a:off x="1004637" y="3007932"/>
            <a:ext cx="2039020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frmGuessTheWord.java</a:t>
            </a:r>
            <a:endParaRPr lang="en-US" sz="1100" dirty="0"/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E8C88A46-2839-03B5-2188-B1DFA0619FBF}"/>
              </a:ext>
            </a:extLst>
          </p:cNvPr>
          <p:cNvSpPr/>
          <p:nvPr/>
        </p:nvSpPr>
        <p:spPr>
          <a:xfrm>
            <a:off x="1004637" y="3167941"/>
            <a:ext cx="1529265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pnlParole.java</a:t>
            </a:r>
            <a:endParaRPr lang="en-US" sz="1100" dirty="0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86FBF147-15FA-00FC-4EB3-2B6FDAFDD6BB}"/>
              </a:ext>
            </a:extLst>
          </p:cNvPr>
          <p:cNvSpPr/>
          <p:nvPr/>
        </p:nvSpPr>
        <p:spPr>
          <a:xfrm>
            <a:off x="1004637" y="3327950"/>
            <a:ext cx="2378856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pnlTastieraVirtuale.java</a:t>
            </a:r>
            <a:endParaRPr lang="en-US" sz="1100" dirty="0"/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14415A69-8395-D94D-F92A-4BF4570E6D64}"/>
              </a:ext>
            </a:extLst>
          </p:cNvPr>
          <p:cNvSpPr/>
          <p:nvPr/>
        </p:nvSpPr>
        <p:spPr>
          <a:xfrm>
            <a:off x="1004637" y="3487958"/>
            <a:ext cx="1444306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pnlReset.java</a:t>
            </a:r>
            <a:endParaRPr lang="en-US" sz="1100" dirty="0"/>
          </a:p>
        </p:txBody>
      </p:sp>
      <p:sp>
        <p:nvSpPr>
          <p:cNvPr id="74" name="Text 9">
            <a:extLst>
              <a:ext uri="{FF2B5EF4-FFF2-40B4-BE49-F238E27FC236}">
                <a16:creationId xmlns:a16="http://schemas.microsoft.com/office/drawing/2014/main" id="{227E6DA8-280F-67B3-21C6-CF9400696DC8}"/>
              </a:ext>
            </a:extLst>
          </p:cNvPr>
          <p:cNvSpPr/>
          <p:nvPr/>
        </p:nvSpPr>
        <p:spPr>
          <a:xfrm>
            <a:off x="1004637" y="3647967"/>
            <a:ext cx="1784143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pnlUtilities.java</a:t>
            </a:r>
            <a:endParaRPr lang="en-US" sz="1100" dirty="0"/>
          </a:p>
        </p:txBody>
      </p:sp>
      <p:sp>
        <p:nvSpPr>
          <p:cNvPr id="75" name="Text 10">
            <a:extLst>
              <a:ext uri="{FF2B5EF4-FFF2-40B4-BE49-F238E27FC236}">
                <a16:creationId xmlns:a16="http://schemas.microsoft.com/office/drawing/2014/main" id="{31D1A1D6-0237-72DC-9DEF-E05366BBCAB3}"/>
              </a:ext>
            </a:extLst>
          </p:cNvPr>
          <p:cNvSpPr/>
          <p:nvPr/>
        </p:nvSpPr>
        <p:spPr>
          <a:xfrm>
            <a:off x="1004637" y="3807976"/>
            <a:ext cx="1444306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lblCella.java</a:t>
            </a:r>
            <a:endParaRPr lang="en-US" sz="1100" dirty="0"/>
          </a:p>
        </p:txBody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0D421B1F-D11D-09F7-0A63-1E7341455321}"/>
              </a:ext>
            </a:extLst>
          </p:cNvPr>
          <p:cNvSpPr/>
          <p:nvPr/>
        </p:nvSpPr>
        <p:spPr>
          <a:xfrm>
            <a:off x="1004637" y="3967985"/>
            <a:ext cx="1869101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InputListener.java</a:t>
            </a:r>
            <a:endParaRPr lang="en-US" sz="1100" dirty="0"/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342BADE4-C6D2-0515-E743-7D43752EDD1F}"/>
              </a:ext>
            </a:extLst>
          </p:cNvPr>
          <p:cNvSpPr/>
          <p:nvPr/>
        </p:nvSpPr>
        <p:spPr>
          <a:xfrm>
            <a:off x="1004637" y="4127994"/>
            <a:ext cx="1784143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enumStatoLtt.java</a:t>
            </a:r>
            <a:endParaRPr lang="en-US" sz="1100" dirty="0"/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1D12D3B8-54F7-A50F-5073-6CB3E49945B0}"/>
              </a:ext>
            </a:extLst>
          </p:cNvPr>
          <p:cNvSpPr/>
          <p:nvPr/>
        </p:nvSpPr>
        <p:spPr>
          <a:xfrm>
            <a:off x="1004637" y="4288003"/>
            <a:ext cx="1529265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clrColori.java</a:t>
            </a:r>
            <a:endParaRPr lang="en-US" sz="1100" dirty="0"/>
          </a:p>
        </p:txBody>
      </p:sp>
      <p:sp>
        <p:nvSpPr>
          <p:cNvPr id="79" name="Text 14">
            <a:extLst>
              <a:ext uri="{FF2B5EF4-FFF2-40B4-BE49-F238E27FC236}">
                <a16:creationId xmlns:a16="http://schemas.microsoft.com/office/drawing/2014/main" id="{105E55DB-57E2-11F0-740F-59D3FB670B2B}"/>
              </a:ext>
            </a:extLst>
          </p:cNvPr>
          <p:cNvSpPr/>
          <p:nvPr/>
        </p:nvSpPr>
        <p:spPr>
          <a:xfrm>
            <a:off x="1004637" y="4448011"/>
            <a:ext cx="1699183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GestoreFile.java</a:t>
            </a:r>
            <a:endParaRPr lang="en-US" sz="1100" dirty="0"/>
          </a:p>
        </p:txBody>
      </p:sp>
      <p:sp>
        <p:nvSpPr>
          <p:cNvPr id="80" name="Text 15">
            <a:extLst>
              <a:ext uri="{FF2B5EF4-FFF2-40B4-BE49-F238E27FC236}">
                <a16:creationId xmlns:a16="http://schemas.microsoft.com/office/drawing/2014/main" id="{2F3D4757-0873-59B2-F1D1-52B0808E7FF7}"/>
              </a:ext>
            </a:extLst>
          </p:cNvPr>
          <p:cNvSpPr/>
          <p:nvPr/>
        </p:nvSpPr>
        <p:spPr>
          <a:xfrm>
            <a:off x="1004637" y="4608020"/>
            <a:ext cx="1699183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├── Statistiche.java</a:t>
            </a:r>
            <a:endParaRPr lang="en-US" sz="11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8D5291E3-4DFA-2C40-0B5A-E941A6845642}"/>
              </a:ext>
            </a:extLst>
          </p:cNvPr>
          <p:cNvSpPr/>
          <p:nvPr/>
        </p:nvSpPr>
        <p:spPr>
          <a:xfrm>
            <a:off x="1004637" y="4768029"/>
            <a:ext cx="3313408" cy="18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39FF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└── jdlInfo/jdlRisultato/jdlStatistiche</a:t>
            </a:r>
            <a:endParaRPr lang="en-US" sz="1100" dirty="0"/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63B6F02C-A371-8144-8CBC-EAF4A6F5DE20}"/>
              </a:ext>
            </a:extLst>
          </p:cNvPr>
          <p:cNvSpPr/>
          <p:nvPr/>
        </p:nvSpPr>
        <p:spPr>
          <a:xfrm>
            <a:off x="4709729" y="1829734"/>
            <a:ext cx="416781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3200" dirty="0"/>
          </a:p>
        </p:txBody>
      </p:sp>
      <p:sp>
        <p:nvSpPr>
          <p:cNvPr id="83" name="Text 18">
            <a:extLst>
              <a:ext uri="{FF2B5EF4-FFF2-40B4-BE49-F238E27FC236}">
                <a16:creationId xmlns:a16="http://schemas.microsoft.com/office/drawing/2014/main" id="{7327DA4D-C51B-4EBE-8825-28863A0B2BB7}"/>
              </a:ext>
            </a:extLst>
          </p:cNvPr>
          <p:cNvSpPr/>
          <p:nvPr/>
        </p:nvSpPr>
        <p:spPr>
          <a:xfrm>
            <a:off x="5282335" y="1644890"/>
            <a:ext cx="456485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7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AVVIO E INTERFACCIA PRINCIPALE</a:t>
            </a:r>
            <a:endParaRPr lang="en-US" sz="1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4" name="Text 19">
            <a:extLst>
              <a:ext uri="{FF2B5EF4-FFF2-40B4-BE49-F238E27FC236}">
                <a16:creationId xmlns:a16="http://schemas.microsoft.com/office/drawing/2014/main" id="{162147ED-9B1F-8343-70EE-7FAE73618C52}"/>
              </a:ext>
            </a:extLst>
          </p:cNvPr>
          <p:cNvSpPr/>
          <p:nvPr/>
        </p:nvSpPr>
        <p:spPr>
          <a:xfrm>
            <a:off x="5282335" y="1930478"/>
            <a:ext cx="4564856" cy="430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  <a:cs typeface="Inter" pitchFamily="34" charset="-120"/>
              </a:rPr>
              <a:t>Contiene il punto di ingresso dell'applicazione e la finestra principale. Classi chiave: </a:t>
            </a:r>
            <a:r>
              <a:rPr lang="en-US" sz="1200" dirty="0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GuessTheWord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dirty="0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frmGuessTheWord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>
              <a:latin typeface="Segoe UI Variable Display" pitchFamily="2" charset="0"/>
            </a:endParaRPr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9D29B6AC-83CF-B13B-E2E6-4092C10DF418}"/>
              </a:ext>
            </a:extLst>
          </p:cNvPr>
          <p:cNvSpPr/>
          <p:nvPr/>
        </p:nvSpPr>
        <p:spPr>
          <a:xfrm>
            <a:off x="4739410" y="3016251"/>
            <a:ext cx="506549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4444"/>
                </a:solidFill>
                <a:latin typeface="Inter Bold" pitchFamily="34" charset="0"/>
                <a:ea typeface="Inter Bold" pitchFamily="34" charset="-122"/>
              </a:rPr>
              <a:t>02</a:t>
            </a:r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5CE818C9-190A-25F3-38FF-1A2BEADD1ED9}"/>
              </a:ext>
            </a:extLst>
          </p:cNvPr>
          <p:cNvSpPr/>
          <p:nvPr/>
        </p:nvSpPr>
        <p:spPr>
          <a:xfrm>
            <a:off x="5317895" y="2868926"/>
            <a:ext cx="456485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FFD7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COMPONENTI DELL'INTERFACCIA</a:t>
            </a:r>
          </a:p>
        </p:txBody>
      </p:sp>
      <p:sp>
        <p:nvSpPr>
          <p:cNvPr id="87" name="Text 22">
            <a:extLst>
              <a:ext uri="{FF2B5EF4-FFF2-40B4-BE49-F238E27FC236}">
                <a16:creationId xmlns:a16="http://schemas.microsoft.com/office/drawing/2014/main" id="{34D7EAAF-2FBA-1A2C-40FF-3D6837BC15FE}"/>
              </a:ext>
            </a:extLst>
          </p:cNvPr>
          <p:cNvSpPr/>
          <p:nvPr/>
        </p:nvSpPr>
        <p:spPr>
          <a:xfrm>
            <a:off x="5317895" y="3167941"/>
            <a:ext cx="4564856" cy="65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Raccoglie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</a:t>
            </a:r>
            <a:r>
              <a:rPr lang="en-US" sz="12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i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</a:t>
            </a:r>
            <a:r>
              <a:rPr lang="en-US" sz="12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pannelli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e le </a:t>
            </a:r>
            <a:r>
              <a:rPr lang="en-US" sz="12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componenti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UI </a:t>
            </a:r>
            <a:r>
              <a:rPr lang="en-US" sz="12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che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</a:t>
            </a:r>
            <a:r>
              <a:rPr lang="en-US" sz="12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compongono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il </a:t>
            </a:r>
            <a:r>
              <a:rPr lang="en-US" sz="12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gioco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. Classi </a:t>
            </a:r>
            <a:r>
              <a:rPr lang="en-US" sz="12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chiave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: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pnlParole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pnlTastieraVirtuale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pnlReset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pnlUtilities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lblCella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.</a:t>
            </a:r>
          </a:p>
        </p:txBody>
      </p:sp>
      <p:sp>
        <p:nvSpPr>
          <p:cNvPr id="88" name="Text 23">
            <a:extLst>
              <a:ext uri="{FF2B5EF4-FFF2-40B4-BE49-F238E27FC236}">
                <a16:creationId xmlns:a16="http://schemas.microsoft.com/office/drawing/2014/main" id="{6BA5724D-AD1E-B5CA-01A4-21438EA5808A}"/>
              </a:ext>
            </a:extLst>
          </p:cNvPr>
          <p:cNvSpPr/>
          <p:nvPr/>
        </p:nvSpPr>
        <p:spPr>
          <a:xfrm>
            <a:off x="4713289" y="4311186"/>
            <a:ext cx="416781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4444"/>
                </a:solidFill>
                <a:latin typeface="Inter Bold" pitchFamily="34" charset="0"/>
                <a:ea typeface="Inter Bold" pitchFamily="34" charset="-122"/>
              </a:rPr>
              <a:t>03</a:t>
            </a:r>
          </a:p>
        </p:txBody>
      </p:sp>
      <p:sp>
        <p:nvSpPr>
          <p:cNvPr id="89" name="Text 24">
            <a:extLst>
              <a:ext uri="{FF2B5EF4-FFF2-40B4-BE49-F238E27FC236}">
                <a16:creationId xmlns:a16="http://schemas.microsoft.com/office/drawing/2014/main" id="{9BA20085-4048-499F-E2AA-426CC83DAC0D}"/>
              </a:ext>
            </a:extLst>
          </p:cNvPr>
          <p:cNvSpPr/>
          <p:nvPr/>
        </p:nvSpPr>
        <p:spPr>
          <a:xfrm>
            <a:off x="5317895" y="4196306"/>
            <a:ext cx="456485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FFD7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LOGICA DI GIOCO E UTILITÀ</a:t>
            </a:r>
          </a:p>
        </p:txBody>
      </p:sp>
      <p:sp>
        <p:nvSpPr>
          <p:cNvPr id="90" name="Text 25">
            <a:extLst>
              <a:ext uri="{FF2B5EF4-FFF2-40B4-BE49-F238E27FC236}">
                <a16:creationId xmlns:a16="http://schemas.microsoft.com/office/drawing/2014/main" id="{562CE22A-7188-2209-0985-A1D4A31B036F}"/>
              </a:ext>
            </a:extLst>
          </p:cNvPr>
          <p:cNvSpPr/>
          <p:nvPr/>
        </p:nvSpPr>
        <p:spPr>
          <a:xfrm>
            <a:off x="5317895" y="4539607"/>
            <a:ext cx="4564856" cy="65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Gestisce la logica di gioco, gli ascoltatori di eventi e le utility di supporto. Classi chiave: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InputListener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enumStatoLtt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clrColori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GestoreFile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Statistiche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.</a:t>
            </a:r>
          </a:p>
        </p:txBody>
      </p:sp>
      <p:sp>
        <p:nvSpPr>
          <p:cNvPr id="91" name="Text 26">
            <a:extLst>
              <a:ext uri="{FF2B5EF4-FFF2-40B4-BE49-F238E27FC236}">
                <a16:creationId xmlns:a16="http://schemas.microsoft.com/office/drawing/2014/main" id="{C7962388-2A7F-B1FB-3286-BF74B84DF811}"/>
              </a:ext>
            </a:extLst>
          </p:cNvPr>
          <p:cNvSpPr/>
          <p:nvPr/>
        </p:nvSpPr>
        <p:spPr>
          <a:xfrm>
            <a:off x="4784293" y="5608609"/>
            <a:ext cx="506549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4444"/>
                </a:solidFill>
                <a:latin typeface="Inter Bold" pitchFamily="34" charset="0"/>
                <a:ea typeface="Inter Bold" pitchFamily="34" charset="-122"/>
              </a:rPr>
              <a:t>04</a:t>
            </a:r>
          </a:p>
        </p:txBody>
      </p:sp>
      <p:sp>
        <p:nvSpPr>
          <p:cNvPr id="92" name="Text 27">
            <a:extLst>
              <a:ext uri="{FF2B5EF4-FFF2-40B4-BE49-F238E27FC236}">
                <a16:creationId xmlns:a16="http://schemas.microsoft.com/office/drawing/2014/main" id="{D46084CB-AB34-4149-5B2F-57A63200D252}"/>
              </a:ext>
            </a:extLst>
          </p:cNvPr>
          <p:cNvSpPr/>
          <p:nvPr/>
        </p:nvSpPr>
        <p:spPr>
          <a:xfrm>
            <a:off x="5396635" y="5563921"/>
            <a:ext cx="456485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FFD7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DIALOGHI E REPORT</a:t>
            </a:r>
          </a:p>
        </p:txBody>
      </p:sp>
      <p:sp>
        <p:nvSpPr>
          <p:cNvPr id="93" name="Text 28">
            <a:extLst>
              <a:ext uri="{FF2B5EF4-FFF2-40B4-BE49-F238E27FC236}">
                <a16:creationId xmlns:a16="http://schemas.microsoft.com/office/drawing/2014/main" id="{24997C8F-3BD5-EE5A-C8EE-670D6E1E0DC5}"/>
              </a:ext>
            </a:extLst>
          </p:cNvPr>
          <p:cNvSpPr/>
          <p:nvPr/>
        </p:nvSpPr>
        <p:spPr>
          <a:xfrm>
            <a:off x="5396635" y="5854830"/>
            <a:ext cx="4564856" cy="430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Include i dialoghi modali per informazioni, risultati e statistiche. Risorse chiave: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jdlInfo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jdlRisultato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200" dirty="0" err="1">
                <a:solidFill>
                  <a:srgbClr val="39FF14"/>
                </a:solidFill>
                <a:latin typeface="Cascadia Code" panose="020B0609020000020004" pitchFamily="49" charset="0"/>
                <a:ea typeface="Fira Code" pitchFamily="34" charset="-122"/>
                <a:cs typeface="Cascadia Code" panose="020B0609020000020004" pitchFamily="49" charset="0"/>
              </a:rPr>
              <a:t>jdlStatistiche</a:t>
            </a:r>
            <a:r>
              <a:rPr lang="en-US" sz="12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463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50C7F35-D7AC-C68E-62E2-1932883D3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945" y="-82062"/>
            <a:ext cx="12449777" cy="7003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B31CA9-493F-8010-09A9-C872EB61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141"/>
            <a:ext cx="10515600" cy="1325563"/>
          </a:xfrm>
        </p:spPr>
        <p:txBody>
          <a:bodyPr>
            <a:normAutofit/>
          </a:bodyPr>
          <a:lstStyle/>
          <a:p>
            <a:r>
              <a:rPr lang="it-IT" sz="5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INTERFACCIA</a:t>
            </a:r>
            <a:endParaRPr lang="en-GB" sz="60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Shape 72">
            <a:extLst>
              <a:ext uri="{FF2B5EF4-FFF2-40B4-BE49-F238E27FC236}">
                <a16:creationId xmlns:a16="http://schemas.microsoft.com/office/drawing/2014/main" id="{7E12DC1C-6299-4EE6-3804-582EB70C4C40}"/>
              </a:ext>
            </a:extLst>
          </p:cNvPr>
          <p:cNvSpPr/>
          <p:nvPr/>
        </p:nvSpPr>
        <p:spPr>
          <a:xfrm>
            <a:off x="6830919" y="1491463"/>
            <a:ext cx="872650" cy="834340"/>
          </a:xfrm>
          <a:prstGeom prst="rect">
            <a:avLst/>
          </a:prstGeom>
          <a:solidFill>
            <a:srgbClr val="2D3240"/>
          </a:solidFill>
          <a:ln/>
        </p:spPr>
        <p:txBody>
          <a:bodyPr anchor="ctr"/>
          <a:lstStyle/>
          <a:p>
            <a:pPr algn="ctr"/>
            <a:r>
              <a:rPr lang="it-IT" dirty="0">
                <a:solidFill>
                  <a:srgbClr val="FFC000"/>
                </a:solidFill>
              </a:rPr>
              <a:t>01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10" name="Text 74">
            <a:extLst>
              <a:ext uri="{FF2B5EF4-FFF2-40B4-BE49-F238E27FC236}">
                <a16:creationId xmlns:a16="http://schemas.microsoft.com/office/drawing/2014/main" id="{0492D94A-8D29-D8DB-03F9-4967C4B12B7D}"/>
              </a:ext>
            </a:extLst>
          </p:cNvPr>
          <p:cNvSpPr/>
          <p:nvPr/>
        </p:nvSpPr>
        <p:spPr>
          <a:xfrm>
            <a:off x="7899909" y="1475244"/>
            <a:ext cx="325755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Pannello</a:t>
            </a:r>
            <a:r>
              <a:rPr lang="en-US" sz="2400" b="1" dirty="0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400" b="1" dirty="0" err="1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superiore</a:t>
            </a:r>
            <a:endParaRPr lang="en-US" sz="2400" b="1" dirty="0">
              <a:solidFill>
                <a:srgbClr val="F8FAFC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Text 75">
            <a:extLst>
              <a:ext uri="{FF2B5EF4-FFF2-40B4-BE49-F238E27FC236}">
                <a16:creationId xmlns:a16="http://schemas.microsoft.com/office/drawing/2014/main" id="{D209C411-D286-E085-8C30-07AC6F449876}"/>
              </a:ext>
            </a:extLst>
          </p:cNvPr>
          <p:cNvSpPr/>
          <p:nvPr/>
        </p:nvSpPr>
        <p:spPr>
          <a:xfrm>
            <a:off x="7899909" y="1906131"/>
            <a:ext cx="3453890" cy="507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Contiene il titolo del gioco e due pulsanti: informazioni e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statistiche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046D03A-0A1C-A864-14E7-54CCE0F75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1463"/>
            <a:ext cx="5098574" cy="4520598"/>
          </a:xfrm>
          <a:prstGeom prst="rect">
            <a:avLst/>
          </a:prstGeom>
        </p:spPr>
      </p:pic>
      <p:sp>
        <p:nvSpPr>
          <p:cNvPr id="32" name="Shape 72">
            <a:extLst>
              <a:ext uri="{FF2B5EF4-FFF2-40B4-BE49-F238E27FC236}">
                <a16:creationId xmlns:a16="http://schemas.microsoft.com/office/drawing/2014/main" id="{086D7DB5-48A5-306C-847A-B51F2DDD5437}"/>
              </a:ext>
            </a:extLst>
          </p:cNvPr>
          <p:cNvSpPr/>
          <p:nvPr/>
        </p:nvSpPr>
        <p:spPr>
          <a:xfrm>
            <a:off x="6830919" y="2703941"/>
            <a:ext cx="872650" cy="834340"/>
          </a:xfrm>
          <a:prstGeom prst="rect">
            <a:avLst/>
          </a:prstGeom>
          <a:solidFill>
            <a:srgbClr val="2D3240"/>
          </a:solidFill>
          <a:ln/>
        </p:spPr>
        <p:txBody>
          <a:bodyPr anchor="ctr"/>
          <a:lstStyle/>
          <a:p>
            <a:pPr algn="ctr"/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02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74">
            <a:extLst>
              <a:ext uri="{FF2B5EF4-FFF2-40B4-BE49-F238E27FC236}">
                <a16:creationId xmlns:a16="http://schemas.microsoft.com/office/drawing/2014/main" id="{594B952F-2710-C01F-C88E-5BA05A6C5E3D}"/>
              </a:ext>
            </a:extLst>
          </p:cNvPr>
          <p:cNvSpPr/>
          <p:nvPr/>
        </p:nvSpPr>
        <p:spPr>
          <a:xfrm>
            <a:off x="7899909" y="2635147"/>
            <a:ext cx="325755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Matrice centrale</a:t>
            </a:r>
          </a:p>
        </p:txBody>
      </p:sp>
      <p:sp>
        <p:nvSpPr>
          <p:cNvPr id="34" name="Text 75">
            <a:extLst>
              <a:ext uri="{FF2B5EF4-FFF2-40B4-BE49-F238E27FC236}">
                <a16:creationId xmlns:a16="http://schemas.microsoft.com/office/drawing/2014/main" id="{E6AAC1EB-ED1B-5EDD-6137-B1E043BEACFE}"/>
              </a:ext>
            </a:extLst>
          </p:cNvPr>
          <p:cNvSpPr/>
          <p:nvPr/>
        </p:nvSpPr>
        <p:spPr>
          <a:xfrm>
            <a:off x="7899909" y="3053328"/>
            <a:ext cx="3632184" cy="51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200"/>
              </a:lnSpc>
            </a:pP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Mostra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le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celle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dei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tentative e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rende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visible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l’avanzamento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della partita.</a:t>
            </a:r>
          </a:p>
        </p:txBody>
      </p:sp>
      <p:sp>
        <p:nvSpPr>
          <p:cNvPr id="38" name="Shape 72">
            <a:extLst>
              <a:ext uri="{FF2B5EF4-FFF2-40B4-BE49-F238E27FC236}">
                <a16:creationId xmlns:a16="http://schemas.microsoft.com/office/drawing/2014/main" id="{25F0B13E-FBE5-6EA1-E2FD-CE7EC2839597}"/>
              </a:ext>
            </a:extLst>
          </p:cNvPr>
          <p:cNvSpPr/>
          <p:nvPr/>
        </p:nvSpPr>
        <p:spPr>
          <a:xfrm>
            <a:off x="6830919" y="3916419"/>
            <a:ext cx="872650" cy="834340"/>
          </a:xfrm>
          <a:prstGeom prst="rect">
            <a:avLst/>
          </a:prstGeom>
          <a:solidFill>
            <a:srgbClr val="2D3240"/>
          </a:solidFill>
          <a:ln/>
        </p:spPr>
        <p:txBody>
          <a:bodyPr anchor="ctr"/>
          <a:lstStyle/>
          <a:p>
            <a:pPr algn="ctr"/>
            <a:r>
              <a:rPr lang="it-IT" dirty="0">
                <a:solidFill>
                  <a:srgbClr val="FFC000"/>
                </a:solidFill>
              </a:rPr>
              <a:t>03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39" name="Text 74">
            <a:extLst>
              <a:ext uri="{FF2B5EF4-FFF2-40B4-BE49-F238E27FC236}">
                <a16:creationId xmlns:a16="http://schemas.microsoft.com/office/drawing/2014/main" id="{4BBD1862-7663-B80C-E030-D2A10C75B508}"/>
              </a:ext>
            </a:extLst>
          </p:cNvPr>
          <p:cNvSpPr/>
          <p:nvPr/>
        </p:nvSpPr>
        <p:spPr>
          <a:xfrm>
            <a:off x="7899909" y="3836716"/>
            <a:ext cx="325755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Pannello</a:t>
            </a:r>
            <a:r>
              <a:rPr lang="en-US" sz="2400" b="1" dirty="0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di reset</a:t>
            </a:r>
          </a:p>
        </p:txBody>
      </p:sp>
      <p:sp>
        <p:nvSpPr>
          <p:cNvPr id="40" name="Text 75">
            <a:extLst>
              <a:ext uri="{FF2B5EF4-FFF2-40B4-BE49-F238E27FC236}">
                <a16:creationId xmlns:a16="http://schemas.microsoft.com/office/drawing/2014/main" id="{CD3ED237-DCEB-3766-1359-6EB8FC8E8254}"/>
              </a:ext>
            </a:extLst>
          </p:cNvPr>
          <p:cNvSpPr/>
          <p:nvPr/>
        </p:nvSpPr>
        <p:spPr>
          <a:xfrm>
            <a:off x="7899908" y="4269913"/>
            <a:ext cx="3747594" cy="51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Permette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di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ricominciare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una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partita senza dover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chiudere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il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programma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.</a:t>
            </a:r>
          </a:p>
        </p:txBody>
      </p:sp>
      <p:sp>
        <p:nvSpPr>
          <p:cNvPr id="44" name="Shape 72">
            <a:extLst>
              <a:ext uri="{FF2B5EF4-FFF2-40B4-BE49-F238E27FC236}">
                <a16:creationId xmlns:a16="http://schemas.microsoft.com/office/drawing/2014/main" id="{F041D19D-4EF8-734B-3824-A6A33C19178A}"/>
              </a:ext>
            </a:extLst>
          </p:cNvPr>
          <p:cNvSpPr/>
          <p:nvPr/>
        </p:nvSpPr>
        <p:spPr>
          <a:xfrm>
            <a:off x="6830919" y="5080072"/>
            <a:ext cx="872650" cy="834340"/>
          </a:xfrm>
          <a:prstGeom prst="rect">
            <a:avLst/>
          </a:prstGeom>
          <a:solidFill>
            <a:srgbClr val="2D3240"/>
          </a:solidFill>
          <a:ln/>
        </p:spPr>
        <p:txBody>
          <a:bodyPr anchor="ctr"/>
          <a:lstStyle/>
          <a:p>
            <a:pPr algn="ctr"/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04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5" name="Text 74">
            <a:extLst>
              <a:ext uri="{FF2B5EF4-FFF2-40B4-BE49-F238E27FC236}">
                <a16:creationId xmlns:a16="http://schemas.microsoft.com/office/drawing/2014/main" id="{C28398A9-409B-D158-9E5C-BA7C74B66D25}"/>
              </a:ext>
            </a:extLst>
          </p:cNvPr>
          <p:cNvSpPr/>
          <p:nvPr/>
        </p:nvSpPr>
        <p:spPr>
          <a:xfrm>
            <a:off x="7899909" y="5026249"/>
            <a:ext cx="325755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err="1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Tastiera</a:t>
            </a:r>
            <a:r>
              <a:rPr lang="en-US" sz="2400" b="1" dirty="0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400" b="1" dirty="0" err="1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virtuale</a:t>
            </a:r>
            <a:endParaRPr lang="en-US" sz="2400" b="1" dirty="0">
              <a:solidFill>
                <a:srgbClr val="F8FAFC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6" name="Text 75">
            <a:extLst>
              <a:ext uri="{FF2B5EF4-FFF2-40B4-BE49-F238E27FC236}">
                <a16:creationId xmlns:a16="http://schemas.microsoft.com/office/drawing/2014/main" id="{785CD4DC-1BF7-79BB-4CB6-8A7538CCE6C6}"/>
              </a:ext>
            </a:extLst>
          </p:cNvPr>
          <p:cNvSpPr/>
          <p:nvPr/>
        </p:nvSpPr>
        <p:spPr>
          <a:xfrm>
            <a:off x="7899908" y="5494740"/>
            <a:ext cx="3918465" cy="5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200"/>
              </a:lnSpc>
            </a:pP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Contiene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l’inserimento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delle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lettere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,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rende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il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gioco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più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accessibile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 e </a:t>
            </a:r>
            <a:r>
              <a:rPr lang="en-US" sz="1600" dirty="0" err="1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intuitivo</a:t>
            </a:r>
            <a:r>
              <a:rPr lang="en-US" sz="1600" dirty="0">
                <a:solidFill>
                  <a:srgbClr val="E0E0E0"/>
                </a:solidFill>
                <a:latin typeface="Segoe UI Variable Display" pitchFamily="2" charset="0"/>
                <a:ea typeface="Inter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7155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BEBF497-B896-EDD5-1DF9-267E53106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005" y="-46923"/>
            <a:ext cx="12334009" cy="6951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5B6565-174B-A7DC-53E7-9B360F29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48" y="263565"/>
            <a:ext cx="10515600" cy="1325563"/>
          </a:xfrm>
        </p:spPr>
        <p:txBody>
          <a:bodyPr>
            <a:normAutofit/>
          </a:bodyPr>
          <a:lstStyle/>
          <a:p>
            <a:r>
              <a:rPr lang="it-IT" sz="5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LOGICA DI GIOCO</a:t>
            </a:r>
            <a:endParaRPr lang="en-GB" sz="54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82C6C3B1-0AEA-8020-A8C7-CA200A73839D}"/>
              </a:ext>
            </a:extLst>
          </p:cNvPr>
          <p:cNvSpPr/>
          <p:nvPr/>
        </p:nvSpPr>
        <p:spPr>
          <a:xfrm>
            <a:off x="5929148" y="1894853"/>
            <a:ext cx="5904561" cy="636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n-US" sz="2200" b="1" kern="0" spc="-1" dirty="0">
                <a:solidFill>
                  <a:srgbClr val="C9B45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Ogni tentativo viene trasformato in </a:t>
            </a:r>
            <a:r>
              <a:rPr lang="en-US" sz="2200" b="1" kern="0" spc="-1" dirty="0" err="1">
                <a:solidFill>
                  <a:srgbClr val="C9B45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informazione</a:t>
            </a:r>
            <a:r>
              <a:rPr lang="en-US" sz="2200" b="1" kern="0" spc="-1" dirty="0">
                <a:solidFill>
                  <a:srgbClr val="C9B45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utile per il </a:t>
            </a:r>
            <a:r>
              <a:rPr lang="en-US" sz="2200" b="1" kern="0" spc="-1" dirty="0" err="1">
                <a:solidFill>
                  <a:srgbClr val="C9B45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passo</a:t>
            </a:r>
            <a:r>
              <a:rPr lang="en-US" sz="2200" b="1" kern="0" spc="-1" dirty="0">
                <a:solidFill>
                  <a:srgbClr val="C9B45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200" b="1" kern="0" spc="-1" dirty="0" err="1">
                <a:solidFill>
                  <a:srgbClr val="C9B45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successivo</a:t>
            </a:r>
            <a:r>
              <a:rPr lang="en-US" sz="2200" b="1" kern="0" spc="-1" dirty="0">
                <a:solidFill>
                  <a:srgbClr val="C9B45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A6CB54C5-C8BA-487D-A6A2-D58E92366A8E}"/>
              </a:ext>
            </a:extLst>
          </p:cNvPr>
          <p:cNvSpPr/>
          <p:nvPr/>
        </p:nvSpPr>
        <p:spPr>
          <a:xfrm>
            <a:off x="502920" y="1652736"/>
            <a:ext cx="900000" cy="900000"/>
          </a:xfrm>
          <a:prstGeom prst="rect">
            <a:avLst/>
          </a:prstGeom>
          <a:solidFill>
            <a:srgbClr val="6AAA64"/>
          </a:solidFill>
          <a:ln w="18288">
            <a:solidFill>
              <a:schemeClr val="bg1">
                <a:alpha val="12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it-IT" sz="3200" b="1" dirty="0">
                <a:solidFill>
                  <a:schemeClr val="bg1"/>
                </a:solidFill>
              </a:rPr>
              <a:t>V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EE651F58-EB7A-9365-CAD2-1E3375CA49F6}"/>
              </a:ext>
            </a:extLst>
          </p:cNvPr>
          <p:cNvSpPr/>
          <p:nvPr/>
        </p:nvSpPr>
        <p:spPr>
          <a:xfrm>
            <a:off x="1526845" y="1647307"/>
            <a:ext cx="900000" cy="900000"/>
          </a:xfrm>
          <a:prstGeom prst="rect">
            <a:avLst/>
          </a:prstGeom>
          <a:solidFill>
            <a:srgbClr val="FFC000"/>
          </a:solidFill>
          <a:ln w="18288">
            <a:solidFill>
              <a:schemeClr val="bg1">
                <a:alpha val="12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it-IT" sz="3200" b="1" dirty="0">
                <a:solidFill>
                  <a:schemeClr val="bg1"/>
                </a:solidFill>
              </a:rPr>
              <a:t>O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8DC9B85-908F-60C3-BAC4-1C2194DEDA4A}"/>
              </a:ext>
            </a:extLst>
          </p:cNvPr>
          <p:cNvSpPr/>
          <p:nvPr/>
        </p:nvSpPr>
        <p:spPr>
          <a:xfrm>
            <a:off x="2550770" y="1647307"/>
            <a:ext cx="900000" cy="900000"/>
          </a:xfrm>
          <a:prstGeom prst="rect">
            <a:avLst/>
          </a:prstGeom>
          <a:solidFill>
            <a:schemeClr val="tx1"/>
          </a:solidFill>
          <a:ln w="18288">
            <a:solidFill>
              <a:schemeClr val="bg1">
                <a:alpha val="12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it-IT" sz="3200" b="1" dirty="0">
                <a:solidFill>
                  <a:schemeClr val="bg1"/>
                </a:solidFill>
              </a:rPr>
              <a:t>T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C152D288-BE8A-B91E-83A8-076D3CD23868}"/>
              </a:ext>
            </a:extLst>
          </p:cNvPr>
          <p:cNvSpPr/>
          <p:nvPr/>
        </p:nvSpPr>
        <p:spPr>
          <a:xfrm>
            <a:off x="3574695" y="1668998"/>
            <a:ext cx="900000" cy="900000"/>
          </a:xfrm>
          <a:prstGeom prst="rect">
            <a:avLst/>
          </a:prstGeom>
          <a:solidFill>
            <a:schemeClr val="tx1"/>
          </a:solidFill>
          <a:ln w="18288">
            <a:solidFill>
              <a:schemeClr val="bg1">
                <a:alpha val="12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it-IT" sz="3200" b="1" dirty="0">
                <a:solidFill>
                  <a:schemeClr val="bg1"/>
                </a:solidFill>
              </a:rPr>
              <a:t>O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711BB73-B9FC-08E3-6CCF-39E01D4D44E5}"/>
              </a:ext>
            </a:extLst>
          </p:cNvPr>
          <p:cNvSpPr/>
          <p:nvPr/>
        </p:nvSpPr>
        <p:spPr>
          <a:xfrm>
            <a:off x="1176318" y="2839435"/>
            <a:ext cx="300751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pace Grotesk Bold" pitchFamily="34" charset="-120"/>
              </a:rPr>
              <a:t>Verde</a:t>
            </a:r>
            <a:endParaRPr lang="en-US" sz="1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5929328C-E3FB-8AF7-4D98-27EB074AB629}"/>
              </a:ext>
            </a:extLst>
          </p:cNvPr>
          <p:cNvSpPr/>
          <p:nvPr/>
        </p:nvSpPr>
        <p:spPr>
          <a:xfrm>
            <a:off x="1176317" y="3116434"/>
            <a:ext cx="4213263" cy="24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La lettera è corretta ed è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nella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posizione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giusta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BA93BFE0-D6E4-E88A-6CEB-F68350D83807}"/>
              </a:ext>
            </a:extLst>
          </p:cNvPr>
          <p:cNvSpPr/>
          <p:nvPr/>
        </p:nvSpPr>
        <p:spPr>
          <a:xfrm>
            <a:off x="1176319" y="3530209"/>
            <a:ext cx="300751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Giallo</a:t>
            </a: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02D123DC-C4C8-4BFC-C86D-D93BB3E9585A}"/>
              </a:ext>
            </a:extLst>
          </p:cNvPr>
          <p:cNvSpPr/>
          <p:nvPr/>
        </p:nvSpPr>
        <p:spPr>
          <a:xfrm>
            <a:off x="1176320" y="3771594"/>
            <a:ext cx="3645616" cy="51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lettera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è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presente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nella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parola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ma non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nella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posizione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corretta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AE218F68-4A7D-269D-71D8-EAA4FEAD68A4}"/>
              </a:ext>
            </a:extLst>
          </p:cNvPr>
          <p:cNvSpPr/>
          <p:nvPr/>
        </p:nvSpPr>
        <p:spPr>
          <a:xfrm>
            <a:off x="1176318" y="4403145"/>
            <a:ext cx="300751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8FAF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Nero</a:t>
            </a: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62F0898D-07D0-62E7-12AD-BDA4F1ED1D0D}"/>
              </a:ext>
            </a:extLst>
          </p:cNvPr>
          <p:cNvSpPr/>
          <p:nvPr/>
        </p:nvSpPr>
        <p:spPr>
          <a:xfrm>
            <a:off x="1176318" y="4645547"/>
            <a:ext cx="3645616" cy="24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lettera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non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appartiene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alla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parola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F3E11751-9A3D-8773-9A8D-DBBE0B79B53C}"/>
              </a:ext>
            </a:extLst>
          </p:cNvPr>
          <p:cNvSpPr/>
          <p:nvPr/>
        </p:nvSpPr>
        <p:spPr>
          <a:xfrm>
            <a:off x="5929148" y="2839435"/>
            <a:ext cx="7316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6AAA64"/>
                </a:solidFill>
                <a:latin typeface="Segoe UI Variable Display Semib" pitchFamily="2" charset="0"/>
                <a:ea typeface="Space Grotesk Bold" pitchFamily="34" charset="-122"/>
                <a:cs typeface="Space Grotesk Bold" pitchFamily="34" charset="-120"/>
              </a:rPr>
              <a:t>INPUT</a:t>
            </a:r>
            <a:endParaRPr lang="en-US" sz="2400" dirty="0">
              <a:latin typeface="Segoe UI Variable Display Semib" pitchFamily="2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EF7DEF9-C0BE-AFA0-E9C9-50101D77DFCE}"/>
              </a:ext>
            </a:extLst>
          </p:cNvPr>
          <p:cNvSpPr/>
          <p:nvPr/>
        </p:nvSpPr>
        <p:spPr>
          <a:xfrm>
            <a:off x="6968058" y="2707726"/>
            <a:ext cx="4507661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Il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giocatore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completa una riga della griglia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inserendo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una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parola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valida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BFEB40E6-D378-63EF-E4E2-D3E6FE4C962E}"/>
              </a:ext>
            </a:extLst>
          </p:cNvPr>
          <p:cNvSpPr/>
          <p:nvPr/>
        </p:nvSpPr>
        <p:spPr>
          <a:xfrm>
            <a:off x="5929148" y="3586928"/>
            <a:ext cx="150316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6AAA64"/>
                </a:solidFill>
                <a:latin typeface="Segoe UI Variable Display Semib" pitchFamily="2" charset="0"/>
                <a:ea typeface="Space Grotesk Bold" pitchFamily="34" charset="-122"/>
              </a:rPr>
              <a:t>CONTROLLO</a:t>
            </a:r>
            <a:endParaRPr lang="en-US" sz="2400" b="1" kern="0" spc="1" dirty="0">
              <a:solidFill>
                <a:srgbClr val="6AAA64"/>
              </a:solidFill>
              <a:latin typeface="Segoe UI Variable Display Semib" pitchFamily="2" charset="0"/>
              <a:ea typeface="Space Grotesk Bold" pitchFamily="34" charset="-122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A7A98BD6-103D-D524-4BAE-9FC467BEFF0C}"/>
              </a:ext>
            </a:extLst>
          </p:cNvPr>
          <p:cNvSpPr/>
          <p:nvPr/>
        </p:nvSpPr>
        <p:spPr>
          <a:xfrm>
            <a:off x="7675331" y="3467407"/>
            <a:ext cx="4063824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400"/>
              </a:lnSpc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Il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programma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confronta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ciascuna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lettera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con 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parola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segreta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e ne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determina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lo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stato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97DDC2DD-28E3-61BE-8809-F9D9A6A5C809}"/>
              </a:ext>
            </a:extLst>
          </p:cNvPr>
          <p:cNvSpPr/>
          <p:nvPr/>
        </p:nvSpPr>
        <p:spPr>
          <a:xfrm>
            <a:off x="5929148" y="4334421"/>
            <a:ext cx="97699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6AAA64"/>
                </a:solidFill>
                <a:latin typeface="Segoe UI Variable Display Semib" pitchFamily="2" charset="0"/>
                <a:ea typeface="Space Grotesk Bold" pitchFamily="34" charset="-122"/>
              </a:rPr>
              <a:t>OUTPUT</a:t>
            </a:r>
            <a:endParaRPr lang="en-US" sz="2400" b="1" kern="0" spc="1" dirty="0">
              <a:solidFill>
                <a:srgbClr val="6AAA64"/>
              </a:solidFill>
              <a:latin typeface="Segoe UI Variable Display Semib" pitchFamily="2" charset="0"/>
              <a:ea typeface="Space Grotesk Bold" pitchFamily="34" charset="-122"/>
            </a:endParaRP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88D65763-79D9-6CA5-166D-26195DF3FB27}"/>
              </a:ext>
            </a:extLst>
          </p:cNvPr>
          <p:cNvSpPr/>
          <p:nvPr/>
        </p:nvSpPr>
        <p:spPr>
          <a:xfrm>
            <a:off x="7326048" y="4240325"/>
            <a:ext cx="4507661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Le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celle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insieme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alla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tastiera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vengono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colorate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in base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allo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stato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della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lettera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2FB10301-D4A7-164D-248E-2E8B54B876B3}"/>
              </a:ext>
            </a:extLst>
          </p:cNvPr>
          <p:cNvSpPr/>
          <p:nvPr/>
        </p:nvSpPr>
        <p:spPr>
          <a:xfrm>
            <a:off x="5929148" y="5190890"/>
            <a:ext cx="68352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6AAA64"/>
                </a:solidFill>
                <a:latin typeface="Segoe UI Variable Display Semib" pitchFamily="2" charset="0"/>
                <a:ea typeface="Space Grotesk Bold" pitchFamily="34" charset="-122"/>
              </a:rPr>
              <a:t>ESITO</a:t>
            </a:r>
            <a:endParaRPr lang="en-US" sz="2400" b="1" kern="0" spc="1" dirty="0">
              <a:solidFill>
                <a:srgbClr val="6AAA64"/>
              </a:solidFill>
              <a:latin typeface="Segoe UI Variable Display Semib" pitchFamily="2" charset="0"/>
              <a:ea typeface="Space Grotesk Bold" pitchFamily="34" charset="-122"/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B1DC4C28-B820-F0CA-70B0-88D799FB2E3E}"/>
              </a:ext>
            </a:extLst>
          </p:cNvPr>
          <p:cNvSpPr/>
          <p:nvPr/>
        </p:nvSpPr>
        <p:spPr>
          <a:xfrm>
            <a:off x="6968058" y="5052160"/>
            <a:ext cx="4865650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400"/>
              </a:lnSpc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Se tutte le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lettere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sono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corrette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la partita termina con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una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vittoria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,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altrimenti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si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passa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al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tentativo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successivo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312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48C06F92-F6CE-47C7-8F5A-A056B3362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1774" y="-164122"/>
            <a:ext cx="12658681" cy="7120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A936C2-2833-B98A-C71E-6DBB283A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GESTIONE DEGLI EVENTI</a:t>
            </a:r>
            <a:endParaRPr lang="en-GB" sz="54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FEF6C5-F35B-F0FF-C0ED-62C703CE9CCA}"/>
              </a:ext>
            </a:extLst>
          </p:cNvPr>
          <p:cNvSpPr/>
          <p:nvPr/>
        </p:nvSpPr>
        <p:spPr>
          <a:xfrm>
            <a:off x="838200" y="2287111"/>
            <a:ext cx="720000" cy="720000"/>
          </a:xfrm>
          <a:prstGeom prst="rect">
            <a:avLst/>
          </a:prstGeom>
          <a:solidFill>
            <a:srgbClr val="1B2130"/>
          </a:solidFill>
          <a:ln/>
        </p:spPr>
        <p:txBody>
          <a:bodyPr anchor="ctr"/>
          <a:lstStyle/>
          <a:p>
            <a:pPr algn="ctr"/>
            <a:r>
              <a:rPr lang="it-IT" sz="2000" b="1" dirty="0">
                <a:solidFill>
                  <a:schemeClr val="bg1"/>
                </a:solidFill>
              </a:rPr>
              <a:t>01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7F283042-FB22-0BDD-47C8-964F8A3E01A3}"/>
              </a:ext>
            </a:extLst>
          </p:cNvPr>
          <p:cNvSpPr/>
          <p:nvPr/>
        </p:nvSpPr>
        <p:spPr>
          <a:xfrm>
            <a:off x="838200" y="3395325"/>
            <a:ext cx="720000" cy="720000"/>
          </a:xfrm>
          <a:prstGeom prst="rect">
            <a:avLst/>
          </a:prstGeom>
          <a:solidFill>
            <a:srgbClr val="1B2130"/>
          </a:solidFill>
          <a:ln/>
        </p:spPr>
        <p:txBody>
          <a:bodyPr anchor="ctr"/>
          <a:lstStyle/>
          <a:p>
            <a:pPr algn="ctr"/>
            <a:r>
              <a:rPr lang="it-IT" sz="2000" b="1" dirty="0">
                <a:solidFill>
                  <a:schemeClr val="bg1"/>
                </a:solidFill>
              </a:rPr>
              <a:t>02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1648187-82CC-2318-816C-A4BC1306D7F0}"/>
              </a:ext>
            </a:extLst>
          </p:cNvPr>
          <p:cNvSpPr/>
          <p:nvPr/>
        </p:nvSpPr>
        <p:spPr>
          <a:xfrm>
            <a:off x="838200" y="4503539"/>
            <a:ext cx="720000" cy="720000"/>
          </a:xfrm>
          <a:prstGeom prst="rect">
            <a:avLst/>
          </a:prstGeom>
          <a:solidFill>
            <a:srgbClr val="1B2130"/>
          </a:solidFill>
          <a:ln/>
        </p:spPr>
        <p:txBody>
          <a:bodyPr anchor="ctr"/>
          <a:lstStyle/>
          <a:p>
            <a:pPr algn="ctr"/>
            <a:r>
              <a:rPr lang="it-IT" sz="2000" b="1" dirty="0">
                <a:solidFill>
                  <a:schemeClr val="bg1"/>
                </a:solidFill>
              </a:rPr>
              <a:t>03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23F9A140-303F-A96E-2D13-EF89D4A94A36}"/>
              </a:ext>
            </a:extLst>
          </p:cNvPr>
          <p:cNvSpPr/>
          <p:nvPr/>
        </p:nvSpPr>
        <p:spPr>
          <a:xfrm>
            <a:off x="838200" y="5611753"/>
            <a:ext cx="720000" cy="720000"/>
          </a:xfrm>
          <a:prstGeom prst="rect">
            <a:avLst/>
          </a:prstGeom>
          <a:solidFill>
            <a:srgbClr val="1B2130"/>
          </a:solidFill>
          <a:ln/>
        </p:spPr>
        <p:txBody>
          <a:bodyPr anchor="ctr"/>
          <a:lstStyle/>
          <a:p>
            <a:pPr algn="ctr"/>
            <a:r>
              <a:rPr lang="it-IT" sz="2000" b="1" dirty="0">
                <a:solidFill>
                  <a:schemeClr val="bg1"/>
                </a:solidFill>
              </a:rPr>
              <a:t>04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5CB2D95-4F67-D0F9-34EF-A3E37A6ECE1C}"/>
              </a:ext>
            </a:extLst>
          </p:cNvPr>
          <p:cNvSpPr/>
          <p:nvPr/>
        </p:nvSpPr>
        <p:spPr>
          <a:xfrm>
            <a:off x="1795144" y="2226341"/>
            <a:ext cx="31432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Input fisico o </a:t>
            </a:r>
            <a:r>
              <a:rPr lang="en-US" sz="2000" b="1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virtuale</a:t>
            </a:r>
            <a:endParaRPr lang="en-US" sz="20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B8299CF-B414-2682-2A5C-8EEDF7022A14}"/>
              </a:ext>
            </a:extLst>
          </p:cNvPr>
          <p:cNvSpPr/>
          <p:nvPr/>
        </p:nvSpPr>
        <p:spPr>
          <a:xfrm>
            <a:off x="1795143" y="2558677"/>
            <a:ext cx="4605655" cy="507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  <a:cs typeface="Space Grotesk" pitchFamily="34" charset="-120"/>
              </a:rPr>
              <a:t>Le lettere possono arrivare dalla tastiera del computer oppure dai pulsanti della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  <a:cs typeface="Space Grotesk" pitchFamily="34" charset="-120"/>
              </a:rPr>
              <a:t>tastiera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  <a:cs typeface="Space Grotesk" pitchFamily="34" charset="-120"/>
              </a:rPr>
              <a:t>virtuale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600" dirty="0">
              <a:latin typeface="Segoe UI Variable Display" pitchFamily="2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A84A3C16-7C2B-889E-F455-766224204BC7}"/>
              </a:ext>
            </a:extLst>
          </p:cNvPr>
          <p:cNvSpPr/>
          <p:nvPr/>
        </p:nvSpPr>
        <p:spPr>
          <a:xfrm>
            <a:off x="1795144" y="3395325"/>
            <a:ext cx="402653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Aggiornamento della </a:t>
            </a:r>
            <a:r>
              <a:rPr lang="en-US" sz="2000" b="1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griglia</a:t>
            </a:r>
            <a:endParaRPr lang="en-US" sz="20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5E88861-C3E7-690B-155C-7D5631F2EDEA}"/>
              </a:ext>
            </a:extLst>
          </p:cNvPr>
          <p:cNvSpPr/>
          <p:nvPr/>
        </p:nvSpPr>
        <p:spPr>
          <a:xfrm>
            <a:off x="1795144" y="3713962"/>
            <a:ext cx="4605656" cy="51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200"/>
              </a:lnSpc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Ogni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lettera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viene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inserita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nella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cella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libera della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riga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corrente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AC97D7CE-0474-D9BF-41A3-A97D121B1F53}"/>
              </a:ext>
            </a:extLst>
          </p:cNvPr>
          <p:cNvSpPr/>
          <p:nvPr/>
        </p:nvSpPr>
        <p:spPr>
          <a:xfrm>
            <a:off x="1795144" y="4348426"/>
            <a:ext cx="31432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Conferma</a:t>
            </a:r>
            <a:r>
              <a:rPr lang="en-US" sz="2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del tentative.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E0CD5FB-A92A-9334-B5C9-A85DCF2FA9D5}"/>
              </a:ext>
            </a:extLst>
          </p:cNvPr>
          <p:cNvSpPr/>
          <p:nvPr/>
        </p:nvSpPr>
        <p:spPr>
          <a:xfrm>
            <a:off x="1795144" y="4733429"/>
            <a:ext cx="4717416" cy="77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200"/>
              </a:lnSpc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Quando 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parola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è completa, 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pressione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del commando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invio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avvia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un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controllo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con 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parola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segreta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7D3AA8E-5D53-A065-26A1-B22BE4595779}"/>
              </a:ext>
            </a:extLst>
          </p:cNvPr>
          <p:cNvSpPr/>
          <p:nvPr/>
        </p:nvSpPr>
        <p:spPr>
          <a:xfrm>
            <a:off x="1795144" y="5611753"/>
            <a:ext cx="31432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Reset della partita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AF7C4F97-DA65-D921-BDA0-F9D83B3AA502}"/>
              </a:ext>
            </a:extLst>
          </p:cNvPr>
          <p:cNvSpPr/>
          <p:nvPr/>
        </p:nvSpPr>
        <p:spPr>
          <a:xfrm>
            <a:off x="1795144" y="5883875"/>
            <a:ext cx="4341496" cy="51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200"/>
              </a:lnSpc>
            </a:pP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Il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pulsante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di reset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pulisce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la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matrice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permettendo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di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iniziare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una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</a:t>
            </a:r>
            <a:r>
              <a:rPr lang="en-US" sz="16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nuova</a:t>
            </a:r>
            <a:r>
              <a:rPr lang="en-US" sz="16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 partita.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4C9D9A41-5404-2376-60ED-725C62A79DF9}"/>
              </a:ext>
            </a:extLst>
          </p:cNvPr>
          <p:cNvSpPr/>
          <p:nvPr/>
        </p:nvSpPr>
        <p:spPr>
          <a:xfrm>
            <a:off x="6749504" y="1969435"/>
            <a:ext cx="4605655" cy="4406487"/>
          </a:xfrm>
          <a:prstGeom prst="rect">
            <a:avLst/>
          </a:prstGeom>
          <a:solidFill>
            <a:srgbClr val="151A24"/>
          </a:solidFill>
          <a:ln/>
        </p:spPr>
        <p:txBody>
          <a:bodyPr/>
          <a:lstStyle/>
          <a:p>
            <a:pPr algn="ctr"/>
            <a:endParaRPr lang="it-IT" dirty="0">
              <a:solidFill>
                <a:srgbClr val="FFC000"/>
              </a:solidFill>
            </a:endParaRPr>
          </a:p>
          <a:p>
            <a:pPr algn="ctr"/>
            <a:r>
              <a:rPr lang="it-IT" dirty="0">
                <a:solidFill>
                  <a:srgbClr val="FFC000"/>
                </a:solidFill>
              </a:rPr>
              <a:t>FLUSSO DEGLI EVENTI</a:t>
            </a:r>
          </a:p>
          <a:p>
            <a:pPr algn="ctr"/>
            <a:endParaRPr lang="it-IT" dirty="0">
              <a:solidFill>
                <a:srgbClr val="FFC000"/>
              </a:solidFill>
            </a:endParaRPr>
          </a:p>
          <a:p>
            <a:pPr algn="ctr"/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CEE14-CAAD-A593-0BA6-84EEC51EA4A0}"/>
              </a:ext>
            </a:extLst>
          </p:cNvPr>
          <p:cNvSpPr txBox="1"/>
          <p:nvPr/>
        </p:nvSpPr>
        <p:spPr>
          <a:xfrm>
            <a:off x="7376160" y="2817337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>
                    <a:lumMod val="85000"/>
                  </a:schemeClr>
                </a:solidFill>
              </a:rPr>
              <a:t>UTENTE</a:t>
            </a:r>
            <a:endParaRPr lang="en-GB" sz="20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A5AA9DF-34B3-9878-F694-0BC9CD25415C}"/>
              </a:ext>
            </a:extLst>
          </p:cNvPr>
          <p:cNvSpPr/>
          <p:nvPr/>
        </p:nvSpPr>
        <p:spPr>
          <a:xfrm rot="5400000">
            <a:off x="8839199" y="3248754"/>
            <a:ext cx="579120" cy="458877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BDB8D8-C166-2197-C209-F50145D4BEF8}"/>
              </a:ext>
            </a:extLst>
          </p:cNvPr>
          <p:cNvSpPr txBox="1"/>
          <p:nvPr/>
        </p:nvSpPr>
        <p:spPr>
          <a:xfrm>
            <a:off x="7376160" y="3772568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chemeClr val="bg1">
                    <a:lumMod val="85000"/>
                  </a:schemeClr>
                </a:solidFill>
              </a:rPr>
              <a:t>InputListener</a:t>
            </a:r>
            <a:endParaRPr lang="en-GB" sz="20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6185513-CA67-90A3-E286-99FDA0F42C7F}"/>
              </a:ext>
            </a:extLst>
          </p:cNvPr>
          <p:cNvSpPr/>
          <p:nvPr/>
        </p:nvSpPr>
        <p:spPr>
          <a:xfrm rot="5400000">
            <a:off x="8839199" y="4232800"/>
            <a:ext cx="579120" cy="458877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4EB026-FF95-86BE-2177-B1394EAC45AE}"/>
              </a:ext>
            </a:extLst>
          </p:cNvPr>
          <p:cNvSpPr txBox="1"/>
          <p:nvPr/>
        </p:nvSpPr>
        <p:spPr>
          <a:xfrm>
            <a:off x="7376160" y="4727799"/>
            <a:ext cx="3505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>
                    <a:lumMod val="85000"/>
                  </a:schemeClr>
                </a:solidFill>
              </a:rPr>
              <a:t>Metodo associato al componente</a:t>
            </a:r>
          </a:p>
          <a:p>
            <a:pPr algn="ctr"/>
            <a:r>
              <a:rPr lang="it-IT" sz="2000" dirty="0">
                <a:solidFill>
                  <a:schemeClr val="bg1">
                    <a:lumMod val="85000"/>
                  </a:schemeClr>
                </a:solidFill>
              </a:rPr>
              <a:t> (gestito da un costrutto switch/case)</a:t>
            </a:r>
            <a:endParaRPr lang="en-GB" sz="20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89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AEDE81A-E6FB-801C-BB7A-2FA6D0767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66907" cy="69563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16192B-ED0F-8615-1572-F22172D3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STATISTICHE</a:t>
            </a:r>
            <a:endParaRPr lang="en-GB" sz="54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51FCAEE-BCE7-9AD0-15C9-54DB93A88F48}"/>
              </a:ext>
            </a:extLst>
          </p:cNvPr>
          <p:cNvSpPr/>
          <p:nvPr/>
        </p:nvSpPr>
        <p:spPr>
          <a:xfrm>
            <a:off x="838200" y="2055813"/>
            <a:ext cx="4328604" cy="68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n-US" sz="2400" b="1" kern="0" spc="-1" dirty="0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 </a:t>
            </a:r>
            <a:r>
              <a:rPr lang="en-US" sz="2400" b="1" kern="0" spc="-1" dirty="0" err="1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statistiche</a:t>
            </a:r>
            <a:r>
              <a:rPr lang="en-US" sz="2400" b="1" kern="0" spc="-1" dirty="0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</a:t>
            </a:r>
            <a:r>
              <a:rPr lang="en-US" sz="2400" b="1" kern="0" spc="-1" dirty="0" err="1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vengono</a:t>
            </a:r>
            <a:r>
              <a:rPr lang="en-US" sz="2400" b="1" kern="0" spc="-1" dirty="0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</a:t>
            </a:r>
            <a:r>
              <a:rPr lang="en-US" sz="2400" b="1" kern="0" spc="-1" dirty="0" err="1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automaticamente</a:t>
            </a:r>
            <a:r>
              <a:rPr lang="en-US" sz="2400" b="1" kern="0" spc="-1" dirty="0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</a:t>
            </a:r>
            <a:r>
              <a:rPr lang="en-US" sz="2400" b="1" kern="0" spc="-1" dirty="0" err="1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salvate</a:t>
            </a:r>
            <a:r>
              <a:rPr lang="en-US" sz="2400" b="1" kern="0" spc="-1" dirty="0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</a:t>
            </a:r>
            <a:r>
              <a:rPr lang="en-US" sz="2400" b="1" kern="0" spc="-1" dirty="0" err="1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</a:t>
            </a:r>
            <a:r>
              <a:rPr lang="en-US" sz="2400" b="1" kern="0" spc="-1" dirty="0">
                <a:solidFill>
                  <a:srgbClr val="6AAA6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file.</a:t>
            </a:r>
            <a:endParaRPr 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E505F6F-64C7-473A-A5D5-4043611FD5B3}"/>
              </a:ext>
            </a:extLst>
          </p:cNvPr>
          <p:cNvSpPr/>
          <p:nvPr/>
        </p:nvSpPr>
        <p:spPr>
          <a:xfrm>
            <a:off x="838200" y="2974732"/>
            <a:ext cx="4053396" cy="228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>
              <a:lnSpc>
                <a:spcPct val="107200"/>
              </a:lnSpc>
              <a:buNone/>
            </a:pP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Al termine della partita, la finestra di risultato comunica subito se l’utente ha vinto o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perso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  <a:p>
            <a:pPr indent="0">
              <a:lnSpc>
                <a:spcPct val="107200"/>
              </a:lnSpc>
              <a:buNone/>
            </a:pP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La sezione statistiche, invece, permette di conservare una sintesi delle prestazioni e di mostrare l’andamento delle partite </a:t>
            </a:r>
            <a:r>
              <a:rPr lang="en-US" sz="2000" dirty="0" err="1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giocate</a:t>
            </a:r>
            <a:r>
              <a:rPr lang="en-US" sz="2000" dirty="0">
                <a:solidFill>
                  <a:srgbClr val="D1D5DB"/>
                </a:solidFill>
                <a:latin typeface="Segoe UI Variable Display" pitchFamily="2" charset="0"/>
                <a:ea typeface="Space Grotesk" pitchFamily="34" charset="-122"/>
              </a:rPr>
              <a:t>.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8E3F5FD-6BF0-CBB8-7014-2E4549EF9649}"/>
              </a:ext>
            </a:extLst>
          </p:cNvPr>
          <p:cNvSpPr/>
          <p:nvPr/>
        </p:nvSpPr>
        <p:spPr>
          <a:xfrm>
            <a:off x="838200" y="5281969"/>
            <a:ext cx="3357563" cy="125951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b="1" dirty="0">
                <a:solidFill>
                  <a:srgbClr val="C9B458"/>
                </a:solidFill>
                <a:latin typeface="Aharoni" panose="020F0502020204030204" pitchFamily="2" charset="-79"/>
                <a:ea typeface="Space Grotesk Bold" pitchFamily="34" charset="-122"/>
                <a:cs typeface="Aharoni" panose="020F0502020204030204" pitchFamily="2" charset="-79"/>
              </a:rPr>
              <a:t>Classi coinvolte:</a:t>
            </a:r>
            <a:r>
              <a:rPr lang="en-US" sz="1400" dirty="0">
                <a:solidFill>
                  <a:srgbClr val="D1D5DB">
                    <a:alpha val="82000"/>
                  </a:srgbClr>
                </a:solidFill>
                <a:latin typeface="Aharoni" panose="020F0502020204030204" pitchFamily="2" charset="-79"/>
                <a:ea typeface="Space Grotesk" pitchFamily="34" charset="-122"/>
                <a:cs typeface="Aharoni" panose="020F0502020204030204" pitchFamily="2" charset="-79"/>
              </a:rPr>
              <a:t>
jdlRisultato.java
jdlStatistiche.java
Statistiche.java</a:t>
            </a:r>
            <a:endParaRPr lang="en-US" sz="12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6F8D1-8013-4334-C54A-710532AB0F7E}"/>
              </a:ext>
            </a:extLst>
          </p:cNvPr>
          <p:cNvSpPr txBox="1"/>
          <p:nvPr/>
        </p:nvSpPr>
        <p:spPr>
          <a:xfrm>
            <a:off x="6173377" y="3293526"/>
            <a:ext cx="5606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solidFill>
                  <a:srgbClr val="D1D5D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Finestra di dialogo che compare a fine partita.</a:t>
            </a:r>
            <a:endParaRPr lang="en-GB" sz="1400" dirty="0">
              <a:solidFill>
                <a:srgbClr val="D1D5D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8D8762-B3BC-70F3-FFA1-910EC19B3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743" y="3818155"/>
            <a:ext cx="4633362" cy="23090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46F20D-4F11-F57E-2157-D3080C026819}"/>
              </a:ext>
            </a:extLst>
          </p:cNvPr>
          <p:cNvSpPr txBox="1"/>
          <p:nvPr/>
        </p:nvSpPr>
        <p:spPr>
          <a:xfrm>
            <a:off x="6193527" y="6218634"/>
            <a:ext cx="560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solidFill>
                  <a:srgbClr val="D1D5D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Finestra di dialogo che compare dopo la pressione del tasto statistiche.</a:t>
            </a:r>
            <a:endParaRPr lang="en-GB" sz="1400" dirty="0">
              <a:solidFill>
                <a:srgbClr val="D1D5D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9CD56B-DDF4-D742-8545-F1AE00F55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601" y="876040"/>
            <a:ext cx="5585944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68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B7FA997-F575-3D3D-2901-B9D4BB95F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8D5B22-9676-04CF-438C-1907D77E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88" y="613797"/>
            <a:ext cx="8247262" cy="1325563"/>
          </a:xfrm>
        </p:spPr>
        <p:txBody>
          <a:bodyPr>
            <a:normAutofit fontScale="90000"/>
          </a:bodyPr>
          <a:lstStyle/>
          <a:p>
            <a:r>
              <a:rPr lang="it-IT" sz="5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MIGLIORAMENTI FUTURI</a:t>
            </a:r>
            <a:endParaRPr lang="en-GB" sz="54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5860764-48A7-06BA-0AA8-E0B5B2E96D0E}"/>
              </a:ext>
            </a:extLst>
          </p:cNvPr>
          <p:cNvSpPr/>
          <p:nvPr/>
        </p:nvSpPr>
        <p:spPr>
          <a:xfrm>
            <a:off x="800920" y="2402490"/>
            <a:ext cx="416781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32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05CABFC-F4F2-1BE5-302D-ECC8CE1E7960}"/>
              </a:ext>
            </a:extLst>
          </p:cNvPr>
          <p:cNvSpPr/>
          <p:nvPr/>
        </p:nvSpPr>
        <p:spPr>
          <a:xfrm>
            <a:off x="1373526" y="2442941"/>
            <a:ext cx="5097612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D7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AGGIUNTA DI ANIMAZIONI</a:t>
            </a:r>
            <a:endParaRPr lang="en-US" sz="28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A458D5A-BCFA-5DEA-F544-B4355E8448FD}"/>
              </a:ext>
            </a:extLst>
          </p:cNvPr>
          <p:cNvSpPr/>
          <p:nvPr/>
        </p:nvSpPr>
        <p:spPr>
          <a:xfrm>
            <a:off x="800920" y="3288374"/>
            <a:ext cx="416781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32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F6149A50-03EA-9D1C-E2D4-5DAF299DCD2D}"/>
              </a:ext>
            </a:extLst>
          </p:cNvPr>
          <p:cNvSpPr/>
          <p:nvPr/>
        </p:nvSpPr>
        <p:spPr>
          <a:xfrm>
            <a:off x="1373526" y="3288374"/>
            <a:ext cx="597181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D7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AMPLIAMENTO DEL DIZIONARIO</a:t>
            </a:r>
            <a:endParaRPr lang="en-US" sz="28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F1C8F002-52A3-00DE-34EF-04C4E8870A30}"/>
              </a:ext>
            </a:extLst>
          </p:cNvPr>
          <p:cNvSpPr/>
          <p:nvPr/>
        </p:nvSpPr>
        <p:spPr>
          <a:xfrm>
            <a:off x="800920" y="4107283"/>
            <a:ext cx="416781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32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1C1BF7E2-68A1-5B1D-DC90-B3CA4269C431}"/>
              </a:ext>
            </a:extLst>
          </p:cNvPr>
          <p:cNvSpPr/>
          <p:nvPr/>
        </p:nvSpPr>
        <p:spPr>
          <a:xfrm>
            <a:off x="1373526" y="4107283"/>
            <a:ext cx="654457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D700"/>
                </a:solidFill>
                <a:latin typeface="Inter Bold" pitchFamily="34" charset="0"/>
                <a:ea typeface="Inter Bold" pitchFamily="34" charset="-122"/>
              </a:rPr>
              <a:t>SUPPORTO ALLA MULTIUTENZA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9676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692</Words>
  <Application>Microsoft Office PowerPoint</Application>
  <PresentationFormat>Widescreen</PresentationFormat>
  <Paragraphs>137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Aharoni</vt:lpstr>
      <vt:lpstr>Aptos</vt:lpstr>
      <vt:lpstr>Aptos Display</vt:lpstr>
      <vt:lpstr>Arial</vt:lpstr>
      <vt:lpstr>Cascadia Code</vt:lpstr>
      <vt:lpstr>Fira Code</vt:lpstr>
      <vt:lpstr>Inter Bold</vt:lpstr>
      <vt:lpstr>Montserrat Black</vt:lpstr>
      <vt:lpstr>Segoe UI Black</vt:lpstr>
      <vt:lpstr>Segoe UI Semibold</vt:lpstr>
      <vt:lpstr>Segoe UI Variable Display</vt:lpstr>
      <vt:lpstr>Segoe UI Variable Display Semib</vt:lpstr>
      <vt:lpstr>Space Grotesk</vt:lpstr>
      <vt:lpstr>Space Grotesk Bold</vt:lpstr>
      <vt:lpstr>Tahoma</vt:lpstr>
      <vt:lpstr>Office Theme</vt:lpstr>
      <vt:lpstr>Wordle in Java</vt:lpstr>
      <vt:lpstr>INDICE</vt:lpstr>
      <vt:lpstr>INTRODUZIONE</vt:lpstr>
      <vt:lpstr>Regole del gioco</vt:lpstr>
      <vt:lpstr>STRUTTURA DEL PACKAGE</vt:lpstr>
      <vt:lpstr>INTERFACCIA</vt:lpstr>
      <vt:lpstr>LOGICA DI GIOCO</vt:lpstr>
      <vt:lpstr>GESTIONE DEGLI EVENTI</vt:lpstr>
      <vt:lpstr>STATISTICHE</vt:lpstr>
      <vt:lpstr>MIGLIORAMENTI FUTURI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Contessa</dc:creator>
  <cp:lastModifiedBy>Mattia Contessa</cp:lastModifiedBy>
  <cp:revision>4</cp:revision>
  <cp:lastPrinted>2026-05-20T13:51:50Z</cp:lastPrinted>
  <dcterms:created xsi:type="dcterms:W3CDTF">2026-05-19T06:50:28Z</dcterms:created>
  <dcterms:modified xsi:type="dcterms:W3CDTF">2026-05-21T15:41:29Z</dcterms:modified>
</cp:coreProperties>
</file>